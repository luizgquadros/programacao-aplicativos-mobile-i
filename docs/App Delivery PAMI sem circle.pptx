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8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367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15" r:id="rId57"/>
    <p:sldId id="332" r:id="rId58"/>
    <p:sldId id="333" r:id="rId59"/>
    <p:sldId id="334" r:id="rId60"/>
    <p:sldId id="335" r:id="rId61"/>
    <p:sldId id="336" r:id="rId62"/>
    <p:sldId id="337" r:id="rId63"/>
    <p:sldId id="338" r:id="rId64"/>
    <p:sldId id="339" r:id="rId65"/>
    <p:sldId id="340" r:id="rId66"/>
    <p:sldId id="341" r:id="rId67"/>
    <p:sldId id="342" r:id="rId68"/>
    <p:sldId id="343" r:id="rId69"/>
    <p:sldId id="360" r:id="rId70"/>
    <p:sldId id="359" r:id="rId71"/>
    <p:sldId id="361" r:id="rId72"/>
    <p:sldId id="362" r:id="rId73"/>
    <p:sldId id="363" r:id="rId74"/>
    <p:sldId id="364" r:id="rId75"/>
    <p:sldId id="365" r:id="rId76"/>
    <p:sldId id="366" r:id="rId77"/>
    <p:sldId id="316" r:id="rId78"/>
    <p:sldId id="317" r:id="rId79"/>
    <p:sldId id="318" r:id="rId80"/>
    <p:sldId id="319" r:id="rId81"/>
    <p:sldId id="372" r:id="rId82"/>
    <p:sldId id="373" r:id="rId83"/>
    <p:sldId id="374" r:id="rId84"/>
    <p:sldId id="375" r:id="rId85"/>
    <p:sldId id="376" r:id="rId86"/>
    <p:sldId id="377" r:id="rId87"/>
    <p:sldId id="378" r:id="rId88"/>
    <p:sldId id="379" r:id="rId89"/>
    <p:sldId id="380" r:id="rId90"/>
    <p:sldId id="381" r:id="rId91"/>
    <p:sldId id="382" r:id="rId92"/>
    <p:sldId id="383" r:id="rId93"/>
    <p:sldId id="384" r:id="rId94"/>
    <p:sldId id="385" r:id="rId95"/>
    <p:sldId id="386" r:id="rId96"/>
    <p:sldId id="387" r:id="rId97"/>
    <p:sldId id="321" r:id="rId98"/>
    <p:sldId id="322" r:id="rId99"/>
    <p:sldId id="323" r:id="rId100"/>
    <p:sldId id="324" r:id="rId101"/>
    <p:sldId id="325" r:id="rId102"/>
    <p:sldId id="326" r:id="rId103"/>
    <p:sldId id="327" r:id="rId104"/>
    <p:sldId id="328" r:id="rId105"/>
    <p:sldId id="329" r:id="rId106"/>
    <p:sldId id="330" r:id="rId107"/>
    <p:sldId id="331" r:id="rId10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BB812-898D-3AB1-97FA-32BE7BFE1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8A83C1-E62A-5399-C53E-87E935BCB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3D62C9-B21F-A158-FC13-F688651AD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5E845A-5793-3A82-3165-4B8DC9A1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71EA6C-0F83-B68F-0658-AC6973F2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41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FF924-4D03-30F6-AE9B-C7684A4A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F9567-603B-0966-351F-C1408EB85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00EF7F-8229-8746-6B9A-471DEA5E6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A32F32-5DC1-7430-8046-E2E72A4C7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A0C1D4-5742-DD27-8E69-CDDC5BCB7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911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92FC1-73CE-C910-AEFC-297C18C8B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8EB1E3-0465-BE62-C514-068E5F3B4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8927C1-22A5-816F-2B8B-6909D848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E8FF68-E1C7-8029-8E86-1654D129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4C47CB-54E9-765A-5D9C-4742BC08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074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6B248-DAFC-9297-8328-DB1E668E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F5E50A-8CAA-E731-5DA9-DA4BCE8FA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DD8419-95C0-FBC3-B664-AFF2E4A53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849364-0F07-09A5-A646-C8104D96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7B4D3F-16DF-7D2D-4AD5-2C95DAAD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33CBEA-23A1-C040-E1DC-AB8072DA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534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B8345-9A9A-10FB-BBA3-F194FE68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ED6960-8865-1B22-87A0-17AA31073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8FFFFF-CFBD-4A20-DDF0-8A28B0203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6C46E4D-DEF7-010E-2C15-A2D640913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3A4997-9D9F-FE9E-AA77-2137C01260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360EED-7B6B-3BD0-36E9-6FA38630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E6D986A-9150-5AAE-4A85-854C9902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74D4BD8-7270-6C66-AF85-842E9205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872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C0C6F-840A-90E6-6295-A11B85AE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164CE1-C722-FCAB-2C85-81133A8A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2D8087-705B-96C4-87F1-7F17F068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7F79F28-BB2C-481D-D244-5D92E25C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15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B4C45B-2444-6E01-0F06-534F331B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6EDDD4D-B45F-19B1-0C21-08C6EC12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093513-0E8A-0565-012D-167C0FB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25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E7169D-DC54-0BE9-5390-557FE2008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61D5AC-F6DF-E731-36BA-DC2F63AC9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14E520-7EAD-2B1D-083B-46107C363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2A0891-CE39-036C-047C-55D5BF12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73FF6A-7EEB-06A7-B565-785D451A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7E4CBB-3DA2-D912-4E2F-292FF34E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16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432C3-5CAC-4C03-87CC-A85BE62F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F49F9EB-5AAB-46F1-27B7-81D50BB3D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F04DCE-5542-85E2-2E77-2E490E13B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729945-DB15-B5B8-0CB0-F430DF1D0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A7D013-888C-336E-E025-E0A8DE3F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0AAB55-9F98-4759-30B9-2B357B71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59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B13CD-5638-09BB-8035-97481B8E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F56E0FE-DE67-AE25-B41A-30C27ADEB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0B8DD0-5DFF-8DA9-8943-B9131FB3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913FEB-41FA-82AD-87B1-C0F01BC0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FFC925-A7CB-B03D-95ED-AE615C773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75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EF1C96-D963-3DD5-089A-AD5944568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560E80-36B3-F03E-2A5C-8A0879E8F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28B69D-9D3E-E8A7-DF93-B0456F73C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9CD27B-3EA7-C1BD-7F20-F26175F7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15E327-A836-2663-25DA-B3C2C553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366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955808-E788-B03F-5D5D-A282DAAD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8AEC99-1ADE-9A1C-8EEB-2F10F00E1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B4B35A-CFA6-80B8-FA4F-5D1D746D7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23D53-92A1-4028-A925-92B08C99BB02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1EB813-1074-F698-3B2C-9685B5146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D58803-4EE9-5022-EB74-B2142F4BB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DF225-C3F0-4CC4-B113-8407E0878FF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036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12A6E-56B8-DCF0-DD13-9755114FB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 Delivery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73A26A-EDB7-C588-2903-C06125457C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https://hotmart.com/pt-BR/club/stack-mobile/products/720298/content/Z72rNb357N?source=CLASS_MODULES_LIST</a:t>
            </a:r>
          </a:p>
        </p:txBody>
      </p:sp>
    </p:spTree>
    <p:extLst>
      <p:ext uri="{BB962C8B-B14F-4D97-AF65-F5344CB8AC3E}">
        <p14:creationId xmlns:p14="http://schemas.microsoft.com/office/powerpoint/2010/main" val="404713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AA7B2-30BA-A383-2704-3B91B9B7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27FBB3-AA09-C731-5E07-50D6350BA6D2}"/>
              </a:ext>
            </a:extLst>
          </p:cNvPr>
          <p:cNvSpPr txBox="1"/>
          <p:nvPr/>
        </p:nvSpPr>
        <p:spPr>
          <a:xfrm>
            <a:off x="8964386" y="1253331"/>
            <a:ext cx="28067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Vamos fazer um aplicativo completo com login, foto do usuário, lista de produtos, detalhes do produto, tudo isso vindo de um banco de dados </a:t>
            </a:r>
            <a:r>
              <a:rPr lang="pt-BR" dirty="0" err="1"/>
              <a:t>firebase</a:t>
            </a:r>
            <a:r>
              <a:rPr lang="pt-BR" dirty="0"/>
              <a:t>, passo a passo para entender todo o processo de criação de um aplicativo bem robusto.</a:t>
            </a:r>
          </a:p>
        </p:txBody>
      </p:sp>
      <p:pic>
        <p:nvPicPr>
          <p:cNvPr id="10" name="Espaço Reservado para Conteúdo 9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0A3FE56-B26B-8EA0-BF6F-E8ABB472B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277" y="1016282"/>
            <a:ext cx="1986629" cy="4351338"/>
          </a:xfrm>
          <a:prstGeom prst="rect">
            <a:avLst/>
          </a:prstGeom>
        </p:spPr>
      </p:pic>
      <p:pic>
        <p:nvPicPr>
          <p:cNvPr id="14" name="Imagem 1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42A1C1DD-BB0A-C584-B711-7ACDB0D4F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092" y="1027906"/>
            <a:ext cx="1990360" cy="4351339"/>
          </a:xfrm>
          <a:prstGeom prst="rect">
            <a:avLst/>
          </a:prstGeom>
        </p:spPr>
      </p:pic>
      <p:pic>
        <p:nvPicPr>
          <p:cNvPr id="16" name="Imagem 15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DDC97F3B-89D2-BDBD-CDF0-44D9CD8EE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375" y="1016281"/>
            <a:ext cx="1926338" cy="4351339"/>
          </a:xfrm>
          <a:prstGeom prst="rect">
            <a:avLst/>
          </a:prstGeom>
        </p:spPr>
      </p:pic>
      <p:pic>
        <p:nvPicPr>
          <p:cNvPr id="18" name="Imagem 17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BC5FDBA4-B7B7-C29E-4D06-1762DB40D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4722" y="1027906"/>
            <a:ext cx="1925554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9422C-1A74-4C50-DA77-59492B91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F8FCA-C106-70C9-FAAF-F690E9E33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9DD6C4-6275-8988-6AF9-06136B2C3A07}"/>
              </a:ext>
            </a:extLst>
          </p:cNvPr>
          <p:cNvSpPr txBox="1"/>
          <p:nvPr/>
        </p:nvSpPr>
        <p:spPr>
          <a:xfrm>
            <a:off x="8964386" y="1253331"/>
            <a:ext cx="2806700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Toda vez que nosso app for usar uma imagem, essa imagem tem que estar dentro da pasta </a:t>
            </a:r>
            <a:r>
              <a:rPr lang="pt-BR" dirty="0" err="1"/>
              <a:t>drawable</a:t>
            </a:r>
            <a:r>
              <a:rPr lang="pt-BR" dirty="0"/>
              <a:t>.</a:t>
            </a:r>
          </a:p>
          <a:p>
            <a:r>
              <a:rPr lang="pt-BR" dirty="0" err="1"/>
              <a:t>Entao</a:t>
            </a:r>
            <a:r>
              <a:rPr lang="pt-BR" dirty="0"/>
              <a:t> a primeira coisa é copiar as imagens para essa pasta.</a:t>
            </a:r>
          </a:p>
          <a:p>
            <a:r>
              <a:rPr lang="pt-BR" dirty="0" err="1"/>
              <a:t>Ps</a:t>
            </a:r>
            <a:r>
              <a:rPr lang="pt-BR" dirty="0"/>
              <a:t>: o nome dos arquivos não pode ter espaço, acento ou letra maiúscula.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9294DC0-5826-E0C9-378F-600E50FE0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26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82BDC-8C00-3821-D5B3-E9A4819B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D213C-AF50-AA21-B6CA-E3C91F15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4DB0E25-AD1E-BA1D-DC5D-92BA0230D816}"/>
              </a:ext>
            </a:extLst>
          </p:cNvPr>
          <p:cNvSpPr txBox="1"/>
          <p:nvPr/>
        </p:nvSpPr>
        <p:spPr>
          <a:xfrm>
            <a:off x="8964386" y="1253331"/>
            <a:ext cx="28067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Vamos começar desenhando o layout do login, com a logo, </a:t>
            </a:r>
            <a:r>
              <a:rPr lang="pt-BR" dirty="0" err="1"/>
              <a:t>email</a:t>
            </a:r>
            <a:r>
              <a:rPr lang="pt-BR" dirty="0"/>
              <a:t>, senha, um texto para saber se o usuário deixou de digitar algo, um botão e um texto para criar a conta.</a:t>
            </a:r>
          </a:p>
          <a:p>
            <a:r>
              <a:rPr lang="pt-BR" dirty="0"/>
              <a:t>Vamos ter também uma barra de progresso que esta invisível </a:t>
            </a:r>
          </a:p>
        </p:txBody>
      </p:sp>
      <p:pic>
        <p:nvPicPr>
          <p:cNvPr id="3" name="Espaço Reservado para Conteúdo 9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4AD20D0-EA00-4FED-0560-FD1C2C070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2685" y="1253331"/>
            <a:ext cx="19866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44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7DD7-45A6-603B-D279-E06D5EEE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3251D-9C25-7D16-31D0-D76F8568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B7B5C7-3BFC-3A4B-5B06-65CFB6E7AF19}"/>
              </a:ext>
            </a:extLst>
          </p:cNvPr>
          <p:cNvSpPr txBox="1"/>
          <p:nvPr/>
        </p:nvSpPr>
        <p:spPr>
          <a:xfrm>
            <a:off x="9701784" y="1027906"/>
            <a:ext cx="2490216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Todo projeto tem que ter essa estrutura de nome:</a:t>
            </a:r>
          </a:p>
          <a:p>
            <a:r>
              <a:rPr lang="pt-BR" dirty="0" err="1"/>
              <a:t>Etim</a:t>
            </a:r>
            <a:r>
              <a:rPr lang="pt-BR" dirty="0"/>
              <a:t> PAMI nome-do-aluno Nome-do-App</a:t>
            </a:r>
          </a:p>
          <a:p>
            <a:r>
              <a:rPr lang="pt-BR" dirty="0"/>
              <a:t>Exemplo </a:t>
            </a:r>
            <a:r>
              <a:rPr lang="pt-BR" dirty="0" err="1"/>
              <a:t>Etim</a:t>
            </a:r>
            <a:r>
              <a:rPr lang="pt-BR" dirty="0"/>
              <a:t> PAMI Agatha App Delivery</a:t>
            </a:r>
          </a:p>
          <a:p>
            <a:r>
              <a:rPr lang="pt-BR" dirty="0"/>
              <a:t>O pacote tem que ter essa estrutura:</a:t>
            </a:r>
          </a:p>
          <a:p>
            <a:r>
              <a:rPr lang="pt-BR" dirty="0" err="1"/>
              <a:t>com.nome</a:t>
            </a:r>
            <a:r>
              <a:rPr lang="pt-BR" dirty="0"/>
              <a:t>-do-</a:t>
            </a:r>
            <a:r>
              <a:rPr lang="pt-BR" dirty="0" err="1"/>
              <a:t>aluno.nome</a:t>
            </a:r>
            <a:r>
              <a:rPr lang="pt-BR" dirty="0"/>
              <a:t>-do-app tudo minúsculo sem espaço ou acento</a:t>
            </a:r>
          </a:p>
          <a:p>
            <a:r>
              <a:rPr lang="pt-BR" dirty="0"/>
              <a:t>Local de </a:t>
            </a:r>
            <a:r>
              <a:rPr lang="pt-BR" dirty="0" err="1"/>
              <a:t>armazenamento:c</a:t>
            </a:r>
            <a:r>
              <a:rPr lang="pt-BR" dirty="0"/>
              <a:t>:\usuários\</a:t>
            </a:r>
            <a:r>
              <a:rPr lang="pt-BR" dirty="0" err="1"/>
              <a:t>android</a:t>
            </a:r>
            <a:r>
              <a:rPr lang="pt-BR" dirty="0"/>
              <a:t>\</a:t>
            </a:r>
            <a:r>
              <a:rPr lang="pt-BR" dirty="0" err="1"/>
              <a:t>etim</a:t>
            </a:r>
            <a:r>
              <a:rPr lang="pt-BR" dirty="0"/>
              <a:t>\nome-do-aluno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9F25946-9239-2596-530B-97DB89ED3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73" y="790956"/>
            <a:ext cx="9379711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22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7DD7-45A6-603B-D279-E06D5EEE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3251D-9C25-7D16-31D0-D76F8568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B7B5C7-3BFC-3A4B-5B06-65CFB6E7AF19}"/>
              </a:ext>
            </a:extLst>
          </p:cNvPr>
          <p:cNvSpPr txBox="1"/>
          <p:nvPr/>
        </p:nvSpPr>
        <p:spPr>
          <a:xfrm>
            <a:off x="8964386" y="1253331"/>
            <a:ext cx="2806700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Todo projeto </a:t>
            </a:r>
            <a:r>
              <a:rPr lang="pt-BR" dirty="0" err="1"/>
              <a:t>java</a:t>
            </a:r>
            <a:r>
              <a:rPr lang="pt-BR" dirty="0"/>
              <a:t> fica dentro de um pacote. O pacote fica dentro da pasta </a:t>
            </a:r>
            <a:r>
              <a:rPr lang="pt-BR" dirty="0" err="1"/>
              <a:t>kotlin+java</a:t>
            </a:r>
            <a:r>
              <a:rPr lang="pt-BR" dirty="0"/>
              <a:t>.</a:t>
            </a:r>
          </a:p>
          <a:p>
            <a:r>
              <a:rPr lang="pt-BR" dirty="0"/>
              <a:t>Com o botão direito sobre o pacote, </a:t>
            </a:r>
            <a:r>
              <a:rPr lang="pt-BR" b="1" dirty="0"/>
              <a:t>new </a:t>
            </a:r>
            <a:r>
              <a:rPr lang="pt-BR" b="1" dirty="0" err="1"/>
              <a:t>activity</a:t>
            </a:r>
            <a:r>
              <a:rPr lang="pt-BR" b="1" dirty="0"/>
              <a:t> </a:t>
            </a:r>
            <a:r>
              <a:rPr lang="pt-BR" b="1" dirty="0" err="1"/>
              <a:t>empty</a:t>
            </a:r>
            <a:r>
              <a:rPr lang="pt-BR" b="1" dirty="0"/>
              <a:t> </a:t>
            </a:r>
            <a:r>
              <a:rPr lang="pt-BR" b="1" dirty="0" err="1"/>
              <a:t>views</a:t>
            </a:r>
            <a:r>
              <a:rPr lang="pt-BR" b="1" dirty="0"/>
              <a:t> </a:t>
            </a:r>
            <a:r>
              <a:rPr lang="pt-BR" b="1" dirty="0" err="1"/>
              <a:t>activity</a:t>
            </a:r>
            <a:r>
              <a:rPr lang="pt-BR" b="1" dirty="0"/>
              <a:t> </a:t>
            </a:r>
            <a:r>
              <a:rPr lang="pt-BR" dirty="0"/>
              <a:t>para criar uma nova </a:t>
            </a:r>
            <a:r>
              <a:rPr lang="pt-BR" dirty="0" err="1"/>
              <a:t>activity</a:t>
            </a:r>
            <a:r>
              <a:rPr lang="pt-BR" dirty="0"/>
              <a:t>, lembrando que </a:t>
            </a:r>
            <a:r>
              <a:rPr lang="pt-BR" dirty="0" err="1"/>
              <a:t>activity</a:t>
            </a:r>
            <a:r>
              <a:rPr lang="pt-BR" dirty="0"/>
              <a:t> é o conjunto de código </a:t>
            </a:r>
            <a:r>
              <a:rPr lang="pt-BR" dirty="0" err="1"/>
              <a:t>java</a:t>
            </a:r>
            <a:r>
              <a:rPr lang="pt-BR" dirty="0"/>
              <a:t> mais uma tela.</a:t>
            </a:r>
          </a:p>
          <a:p>
            <a:r>
              <a:rPr lang="pt-BR" dirty="0"/>
              <a:t>O código pode ser </a:t>
            </a:r>
            <a:r>
              <a:rPr lang="pt-BR" dirty="0" err="1"/>
              <a:t>java</a:t>
            </a:r>
            <a:r>
              <a:rPr lang="pt-BR" dirty="0"/>
              <a:t> ou </a:t>
            </a:r>
            <a:r>
              <a:rPr lang="pt-BR" dirty="0" err="1"/>
              <a:t>kotlin</a:t>
            </a:r>
            <a:r>
              <a:rPr lang="pt-BR" dirty="0"/>
              <a:t>, e a tela normalmente é desenhada em </a:t>
            </a:r>
            <a:r>
              <a:rPr lang="pt-BR" dirty="0" err="1"/>
              <a:t>xml</a:t>
            </a:r>
            <a:r>
              <a:rPr lang="pt-BR" dirty="0"/>
              <a:t>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0A37C1E-142F-9296-DF82-2F3793A50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44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392C-CE33-FCB2-2380-3CB50BF0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1C186-0D80-AAB9-5EA5-C580B4AA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36E133A-8920-1AF8-1461-9C5CE6618061}"/>
              </a:ext>
            </a:extLst>
          </p:cNvPr>
          <p:cNvSpPr txBox="1"/>
          <p:nvPr/>
        </p:nvSpPr>
        <p:spPr>
          <a:xfrm>
            <a:off x="8921524" y="751344"/>
            <a:ext cx="2806700" cy="53553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Existem vários tipos de layout, cada um com um proposito, e com suas particularidades. Para essa tela de login, onde fica um elemento abaixo do outro, podemos usar o </a:t>
            </a:r>
            <a:r>
              <a:rPr lang="pt-BR" dirty="0" err="1"/>
              <a:t>L</a:t>
            </a:r>
            <a:r>
              <a:rPr lang="pt-BR" b="1" dirty="0" err="1"/>
              <a:t>inearLayout</a:t>
            </a:r>
            <a:r>
              <a:rPr lang="pt-BR" b="1" dirty="0"/>
              <a:t> </a:t>
            </a:r>
            <a:r>
              <a:rPr lang="pt-BR" dirty="0"/>
              <a:t>na orientação vertical, que é mais fácil de configurar.</a:t>
            </a:r>
          </a:p>
          <a:p>
            <a:r>
              <a:rPr lang="pt-BR" dirty="0"/>
              <a:t>Aqui vamos dar o nome para o formulário de login lembrando que tem que começar com letra maiúscula e não pode ter espaço ou acentos.</a:t>
            </a:r>
          </a:p>
          <a:p>
            <a:r>
              <a:rPr lang="pt-BR" dirty="0"/>
              <a:t>Como essa </a:t>
            </a:r>
            <a:r>
              <a:rPr lang="pt-BR" dirty="0" err="1"/>
              <a:t>sera</a:t>
            </a:r>
            <a:r>
              <a:rPr lang="pt-BR" dirty="0"/>
              <a:t> a primeira tela, clicar em </a:t>
            </a:r>
            <a:r>
              <a:rPr lang="pt-BR" b="1" dirty="0" err="1"/>
              <a:t>Launcher</a:t>
            </a:r>
            <a:r>
              <a:rPr lang="pt-BR" b="1" dirty="0"/>
              <a:t> </a:t>
            </a:r>
            <a:r>
              <a:rPr lang="pt-BR" b="1" dirty="0" err="1"/>
              <a:t>Activity</a:t>
            </a:r>
            <a:endParaRPr lang="pt-BR" dirty="0"/>
          </a:p>
        </p:txBody>
      </p:sp>
      <p:pic>
        <p:nvPicPr>
          <p:cNvPr id="10" name="Espaço Reservado para Conteúdo 9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C14DB762-FB74-6EF3-3907-63883D9DA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00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993B0-180A-8564-24AF-DC3C13EA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418DB-CE6D-B64B-1CFD-588AA441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D117D8-1E3A-AC69-03F5-1BBA310F301B}"/>
              </a:ext>
            </a:extLst>
          </p:cNvPr>
          <p:cNvSpPr txBox="1"/>
          <p:nvPr/>
        </p:nvSpPr>
        <p:spPr>
          <a:xfrm>
            <a:off x="8964386" y="1253331"/>
            <a:ext cx="280670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arquivo de layout fica na pasta res/layout</a:t>
            </a:r>
          </a:p>
          <a:p>
            <a:r>
              <a:rPr lang="pt-BR" dirty="0"/>
              <a:t>O arquivo de código fica no pacote principal.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01850C6-9260-F25D-F432-16310104F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5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0F70A-5F9F-6C96-7563-D71BD4BC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E4D44-225E-377E-AC08-55FFE329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C344C3-9178-4011-20E7-66DE239F32C5}"/>
              </a:ext>
            </a:extLst>
          </p:cNvPr>
          <p:cNvSpPr txBox="1"/>
          <p:nvPr/>
        </p:nvSpPr>
        <p:spPr>
          <a:xfrm>
            <a:off x="8878661" y="612844"/>
            <a:ext cx="2806700" cy="56323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Abrindo o arquivo de layout, temos três modos de visualizar. </a:t>
            </a:r>
          </a:p>
          <a:p>
            <a:r>
              <a:rPr lang="pt-BR" dirty="0"/>
              <a:t>O modo </a:t>
            </a:r>
            <a:r>
              <a:rPr lang="pt-BR" b="1" dirty="0"/>
              <a:t>Design</a:t>
            </a:r>
            <a:r>
              <a:rPr lang="pt-BR" dirty="0"/>
              <a:t>, que mostra como a tela esta desenhada.</a:t>
            </a:r>
          </a:p>
          <a:p>
            <a:r>
              <a:rPr lang="pt-BR" dirty="0"/>
              <a:t>Dentre outras coisas temos nessa tela o </a:t>
            </a:r>
            <a:r>
              <a:rPr lang="pt-BR" dirty="0" err="1"/>
              <a:t>palette</a:t>
            </a:r>
            <a:r>
              <a:rPr lang="pt-BR" dirty="0"/>
              <a:t> com os elementos que podemos colocar na tela, e do lado direito as propriedades de cada elemento.</a:t>
            </a:r>
          </a:p>
          <a:p>
            <a:r>
              <a:rPr lang="pt-BR" dirty="0"/>
              <a:t>Aqui eu arrastei um </a:t>
            </a:r>
            <a:r>
              <a:rPr lang="pt-BR" dirty="0" err="1"/>
              <a:t>TextView</a:t>
            </a:r>
            <a:r>
              <a:rPr lang="pt-BR" dirty="0"/>
              <a:t> e estou mostrando os atributos dele.</a:t>
            </a:r>
          </a:p>
          <a:p>
            <a:r>
              <a:rPr lang="pt-BR" dirty="0"/>
              <a:t>Para mostrar os atributos de um elemento basta selecioná-lo</a:t>
            </a:r>
          </a:p>
        </p:txBody>
      </p:sp>
      <p:pic>
        <p:nvPicPr>
          <p:cNvPr id="10" name="Espaço Reservado para Conteúdo 9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8844426A-EBB1-F085-65BB-8C12B452D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E15F43A9-EABD-D7B0-F71A-6E56F8C5139F}"/>
              </a:ext>
            </a:extLst>
          </p:cNvPr>
          <p:cNvSpPr/>
          <p:nvPr/>
        </p:nvSpPr>
        <p:spPr>
          <a:xfrm rot="3336861">
            <a:off x="7122787" y="762828"/>
            <a:ext cx="1171575" cy="5301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87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36C6-D49F-ADE5-D2F0-540F0AC5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C5247-7C43-677E-7D8E-487CE3F2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9BFC45-5E82-7F57-287B-AB4ED56C1252}"/>
              </a:ext>
            </a:extLst>
          </p:cNvPr>
          <p:cNvSpPr txBox="1"/>
          <p:nvPr/>
        </p:nvSpPr>
        <p:spPr>
          <a:xfrm>
            <a:off x="8964386" y="1253331"/>
            <a:ext cx="28067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Outra forma é o split, onde mostra além do design, o código que esta produzindo a tela.</a:t>
            </a:r>
          </a:p>
          <a:p>
            <a:r>
              <a:rPr lang="pt-BR" dirty="0"/>
              <a:t>Aqui podemos ver que o layout é o </a:t>
            </a:r>
            <a:r>
              <a:rPr lang="pt-BR" b="1" dirty="0" err="1"/>
              <a:t>ConstraintLayout</a:t>
            </a:r>
            <a:r>
              <a:rPr lang="pt-BR" b="1" dirty="0"/>
              <a:t>, </a:t>
            </a:r>
            <a:r>
              <a:rPr lang="pt-BR" dirty="0"/>
              <a:t> um layout onde cada elemento tem que estar ancorado em um local fixo.</a:t>
            </a:r>
          </a:p>
        </p:txBody>
      </p:sp>
      <p:pic>
        <p:nvPicPr>
          <p:cNvPr id="4" name="Espaço Reservado para Conteúdo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38DDDED4-E98D-3729-B812-41C6DCAE7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0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A803-C963-0FFC-FD94-8151ABB6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02FBB-8B4A-3EFB-A28F-D5656CB3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3FCF27A-A5CC-F98C-907B-46BDC333A264}"/>
              </a:ext>
            </a:extLst>
          </p:cNvPr>
          <p:cNvSpPr txBox="1"/>
          <p:nvPr/>
        </p:nvSpPr>
        <p:spPr>
          <a:xfrm>
            <a:off x="8964386" y="1253331"/>
            <a:ext cx="2806700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Por fim o modo </a:t>
            </a:r>
            <a:r>
              <a:rPr lang="pt-BR" b="1" dirty="0" err="1"/>
              <a:t>code</a:t>
            </a:r>
            <a:r>
              <a:rPr lang="pt-BR" dirty="0"/>
              <a:t>, onde mostra </a:t>
            </a:r>
            <a:r>
              <a:rPr lang="pt-BR" dirty="0" err="1"/>
              <a:t>so</a:t>
            </a:r>
            <a:r>
              <a:rPr lang="pt-BR" dirty="0"/>
              <a:t> o código. </a:t>
            </a:r>
          </a:p>
          <a:p>
            <a:r>
              <a:rPr lang="pt-BR" dirty="0"/>
              <a:t>Com o tempo veremos que esse é o mais interessante, mas vamos usar no começo mais o </a:t>
            </a:r>
            <a:r>
              <a:rPr lang="pt-BR" b="1" dirty="0"/>
              <a:t>split </a:t>
            </a:r>
            <a:r>
              <a:rPr lang="pt-BR" dirty="0"/>
              <a:t>que mostra o código e como ele esta sendo renderizado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EDE46EA9-FD12-83DF-D3F5-01C06473A1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40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E6DD-77E1-CC3F-7ED8-05D7BA12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68CDE-A29A-8637-EAD1-FF6A5C02E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0BCF893-7D81-AD85-9AEF-036CDC0AF501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mudar o layout, selecione toda a parte escrita em amarelo, sem o sinal de menor e sem o espaço depois e digite </a:t>
            </a:r>
            <a:r>
              <a:rPr lang="pt-BR" b="1" dirty="0" err="1"/>
              <a:t>LinearLayout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E9209754-5FED-8D19-5119-F000EC206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49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B7CA-4A7E-DBD9-BB0A-1AAC25E4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10145-A369-1B43-1C1D-401663B2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2FA2C3-584B-AC5B-A096-BEC6125E28F6}"/>
              </a:ext>
            </a:extLst>
          </p:cNvPr>
          <p:cNvSpPr txBox="1"/>
          <p:nvPr/>
        </p:nvSpPr>
        <p:spPr>
          <a:xfrm>
            <a:off x="8964386" y="1253331"/>
            <a:ext cx="2806700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Percebam que mudou em cima e em baixo.</a:t>
            </a:r>
          </a:p>
          <a:p>
            <a:r>
              <a:rPr lang="pt-BR" dirty="0"/>
              <a:t>No </a:t>
            </a:r>
            <a:r>
              <a:rPr lang="pt-BR" dirty="0" err="1"/>
              <a:t>xml</a:t>
            </a:r>
            <a:r>
              <a:rPr lang="pt-BR" dirty="0"/>
              <a:t>, quando uma </a:t>
            </a:r>
            <a:r>
              <a:rPr lang="pt-BR" dirty="0" err="1"/>
              <a:t>tag</a:t>
            </a:r>
            <a:r>
              <a:rPr lang="pt-BR" dirty="0"/>
              <a:t> tem outra </a:t>
            </a:r>
            <a:r>
              <a:rPr lang="pt-BR" dirty="0" err="1"/>
              <a:t>tag</a:t>
            </a:r>
            <a:r>
              <a:rPr lang="pt-BR" dirty="0"/>
              <a:t> dentro, e nesse caso 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 err="1"/>
              <a:t>LinearLayout</a:t>
            </a:r>
            <a:r>
              <a:rPr lang="pt-BR" dirty="0"/>
              <a:t> tem dentro dela 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 err="1"/>
              <a:t>TextView</a:t>
            </a:r>
            <a:r>
              <a:rPr lang="pt-BR" dirty="0"/>
              <a:t>, o fechamento é igual a abertura, precedido de uma barra.</a:t>
            </a:r>
          </a:p>
          <a:p>
            <a:r>
              <a:rPr lang="pt-BR" dirty="0"/>
              <a:t>Quando não tem outra </a:t>
            </a:r>
            <a:r>
              <a:rPr lang="pt-BR" dirty="0" err="1"/>
              <a:t>tag</a:t>
            </a:r>
            <a:r>
              <a:rPr lang="pt-BR" dirty="0"/>
              <a:t> dentro (caso do </a:t>
            </a:r>
            <a:r>
              <a:rPr lang="pt-BR" dirty="0" err="1"/>
              <a:t>TextView</a:t>
            </a:r>
            <a:r>
              <a:rPr lang="pt-BR" dirty="0"/>
              <a:t>) o fechamento é </a:t>
            </a:r>
            <a:r>
              <a:rPr lang="pt-BR" b="1" dirty="0"/>
              <a:t>/&gt;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D724D394-DCBC-559B-C0C4-7C3D6C4DD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261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6E8E-A6B1-B697-D159-BF26FEB1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C9A7F-8B40-6B30-5862-C8BD46E46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C87A12-0186-A4DA-B416-C24E0BADEE3E}"/>
              </a:ext>
            </a:extLst>
          </p:cNvPr>
          <p:cNvSpPr txBox="1"/>
          <p:nvPr/>
        </p:nvSpPr>
        <p:spPr>
          <a:xfrm>
            <a:off x="8964386" y="1253331"/>
            <a:ext cx="2806700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trabalharmos no layout, feche o </a:t>
            </a:r>
            <a:r>
              <a:rPr lang="pt-BR" dirty="0" err="1"/>
              <a:t>palet</a:t>
            </a:r>
            <a:r>
              <a:rPr lang="pt-BR" dirty="0"/>
              <a:t> e os atributos, pois vamos colocar manualmente. </a:t>
            </a:r>
          </a:p>
          <a:p>
            <a:r>
              <a:rPr lang="pt-BR" dirty="0"/>
              <a:t>Ajuste a tela para caber o maior código, diminuindo o design da tela. </a:t>
            </a:r>
          </a:p>
          <a:p>
            <a:r>
              <a:rPr lang="pt-BR" dirty="0"/>
              <a:t>Se a aba Project estiver aberta, ocupando espaço, pode fechar.</a:t>
            </a:r>
          </a:p>
          <a:p>
            <a:r>
              <a:rPr lang="pt-BR" dirty="0"/>
              <a:t>Para fechar ou abrir qualquer tela, basta clicar sobre o sinal </a:t>
            </a:r>
            <a:r>
              <a:rPr lang="pt-BR" b="1" dirty="0"/>
              <a:t>[ - ]. </a:t>
            </a:r>
            <a:r>
              <a:rPr lang="pt-BR" dirty="0"/>
              <a:t>Ou sobre o nome dela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25A5DC2-ED0E-4DCF-2464-EC190B1C9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39043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48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D78DC-50CB-1F3C-4821-529E9E04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EA77EA-49AC-BA42-5F59-7269FE7A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CFB7C6C-C679-D862-9923-F0EF9D348B55}"/>
              </a:ext>
            </a:extLst>
          </p:cNvPr>
          <p:cNvSpPr txBox="1"/>
          <p:nvPr/>
        </p:nvSpPr>
        <p:spPr>
          <a:xfrm>
            <a:off x="8964386" y="1253331"/>
            <a:ext cx="2806700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padrão para programar em </a:t>
            </a:r>
            <a:r>
              <a:rPr lang="pt-BR" dirty="0" err="1"/>
              <a:t>xml</a:t>
            </a:r>
            <a:r>
              <a:rPr lang="pt-BR" dirty="0"/>
              <a:t>, é usar todas as letras em minúsculo, e se o nome for composto, usar um </a:t>
            </a:r>
            <a:r>
              <a:rPr lang="pt-BR" dirty="0" err="1"/>
              <a:t>underline</a:t>
            </a:r>
            <a:r>
              <a:rPr lang="pt-BR" dirty="0"/>
              <a:t>. </a:t>
            </a:r>
          </a:p>
          <a:p>
            <a:r>
              <a:rPr lang="pt-BR" dirty="0"/>
              <a:t>Por isso o nome do arquivo é activity_login.xml, tudo minúsculo e com _ no meio.</a:t>
            </a:r>
          </a:p>
          <a:p>
            <a:r>
              <a:rPr lang="pt-BR" dirty="0"/>
              <a:t>Os elementos, como o </a:t>
            </a:r>
            <a:r>
              <a:rPr lang="pt-BR" b="1" dirty="0" err="1"/>
              <a:t>TextView</a:t>
            </a:r>
            <a:r>
              <a:rPr lang="pt-BR" dirty="0"/>
              <a:t> são classes, e como sabemos todas as classes são escritas com a </a:t>
            </a:r>
            <a:r>
              <a:rPr lang="pt-BR" dirty="0" err="1"/>
              <a:t>primeria</a:t>
            </a:r>
            <a:r>
              <a:rPr lang="pt-BR" dirty="0"/>
              <a:t> letra em </a:t>
            </a:r>
            <a:r>
              <a:rPr lang="pt-BR" dirty="0" err="1"/>
              <a:t>maiusculo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6417BEA-85E7-6FB0-0340-E6D48EF70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29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AC97C-D16F-AA83-A61D-89982D840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402A3-DE6A-39DD-26C0-65F1AEEA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5755BD-E3A3-8C7D-E552-5626A2985B94}"/>
              </a:ext>
            </a:extLst>
          </p:cNvPr>
          <p:cNvSpPr txBox="1"/>
          <p:nvPr/>
        </p:nvSpPr>
        <p:spPr>
          <a:xfrm>
            <a:off x="8964386" y="1253331"/>
            <a:ext cx="2806700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Toda essa parte hachurada, entre o sinal de menor e maior, são as propriedades do layout, ou seja da tela. </a:t>
            </a:r>
          </a:p>
          <a:p>
            <a:r>
              <a:rPr lang="pt-BR" dirty="0"/>
              <a:t>Aqui coloquei por exemplo as propriedades cor de fundo preta, coloquei um </a:t>
            </a:r>
            <a:r>
              <a:rPr lang="pt-BR" dirty="0" err="1"/>
              <a:t>gravity</a:t>
            </a:r>
            <a:r>
              <a:rPr lang="pt-BR" dirty="0"/>
              <a:t> center para centralizar na vertical e orientação vertical, para ficar um elemento em baixo do outro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A4E28D7-68F5-ADC4-A83B-BF7A86554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40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459F-BB41-BAF4-06AB-F919A78D5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76642-1BF6-CF88-B58E-B2E400DB8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80B512-EA2B-7783-073E-520282FEABCA}"/>
              </a:ext>
            </a:extLst>
          </p:cNvPr>
          <p:cNvSpPr txBox="1"/>
          <p:nvPr/>
        </p:nvSpPr>
        <p:spPr>
          <a:xfrm>
            <a:off x="8964386" y="1253331"/>
            <a:ext cx="2806700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coloquei algumas propriedades ao </a:t>
            </a:r>
            <a:r>
              <a:rPr lang="pt-BR" b="1" dirty="0" err="1"/>
              <a:t>TextView</a:t>
            </a:r>
            <a:r>
              <a:rPr lang="pt-BR" b="1" dirty="0"/>
              <a:t> </a:t>
            </a:r>
            <a:r>
              <a:rPr lang="pt-BR" dirty="0"/>
              <a:t>como tamanho do texto, centralização horizontal, cor do texto.</a:t>
            </a:r>
          </a:p>
          <a:p>
            <a:r>
              <a:rPr lang="pt-BR" dirty="0" err="1"/>
              <a:t>Ps</a:t>
            </a:r>
            <a:r>
              <a:rPr lang="pt-BR" dirty="0"/>
              <a:t>: o tamanho do texto é dado em </a:t>
            </a:r>
            <a:r>
              <a:rPr lang="pt-BR" b="1" dirty="0" err="1"/>
              <a:t>sp</a:t>
            </a:r>
            <a:r>
              <a:rPr lang="pt-BR" b="1" dirty="0"/>
              <a:t> ( </a:t>
            </a:r>
            <a:r>
              <a:rPr lang="pt-BR" b="1" dirty="0" err="1"/>
              <a:t>size</a:t>
            </a:r>
            <a:r>
              <a:rPr lang="pt-BR" b="1" dirty="0"/>
              <a:t> por polegada )</a:t>
            </a:r>
          </a:p>
          <a:p>
            <a:r>
              <a:rPr lang="pt-BR" dirty="0"/>
              <a:t>Tamanhos de margem, </a:t>
            </a:r>
            <a:r>
              <a:rPr lang="pt-BR" dirty="0" err="1"/>
              <a:t>padding</a:t>
            </a:r>
            <a:r>
              <a:rPr lang="pt-BR" dirty="0"/>
              <a:t>, tela, é dado por </a:t>
            </a:r>
            <a:r>
              <a:rPr lang="pt-BR" b="1" dirty="0" err="1"/>
              <a:t>dp</a:t>
            </a:r>
            <a:r>
              <a:rPr lang="pt-BR" b="1" dirty="0"/>
              <a:t> (densidade por polegada)</a:t>
            </a:r>
            <a:endParaRPr lang="pt-BR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4656A7D6-A9E9-6740-B41D-0B1FCF825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47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544E-9293-CE8F-0E13-0C682B3E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0C7CD-9DFE-E442-1611-673FA1C2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4CFF92-ACB5-1207-E6DE-252E1D60514E}"/>
              </a:ext>
            </a:extLst>
          </p:cNvPr>
          <p:cNvSpPr txBox="1"/>
          <p:nvPr/>
        </p:nvSpPr>
        <p:spPr>
          <a:xfrm>
            <a:off x="8964386" y="1253331"/>
            <a:ext cx="28067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rodar o aplicativo em um emulador, basta clicar no play.</a:t>
            </a:r>
          </a:p>
          <a:p>
            <a:r>
              <a:rPr lang="pt-BR" dirty="0"/>
              <a:t>Esse processo vai instalar o aplicativo no emulador e costuma demorar um pouco.</a:t>
            </a:r>
          </a:p>
          <a:p>
            <a:r>
              <a:rPr lang="pt-BR" dirty="0"/>
              <a:t>Na barra inferior, podemos acompanhar o que ele esta fazendo</a:t>
            </a:r>
          </a:p>
          <a:p>
            <a:endParaRPr lang="pt-BR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10E7DCB3-C7AC-AD8C-EA31-EF1FA9AB0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36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092C-325D-1752-9F58-CB1AC3AC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2AE28-7650-D396-8744-30480F2D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629ECF-6CE5-D1D9-1CF4-C62C1CF2AD67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Ao final do processo ele vai exibir a tela que foi definida para ser a lançadora, no caso a tela de login que vamos desenhar.</a:t>
            </a:r>
          </a:p>
        </p:txBody>
      </p:sp>
      <p:pic>
        <p:nvPicPr>
          <p:cNvPr id="4" name="Espaço Reservado para Conteúdo 3" descr="Tela de computador com fundo preto&#10;&#10;O conteúdo gerado por IA pode estar incorreto.">
            <a:extLst>
              <a:ext uri="{FF2B5EF4-FFF2-40B4-BE49-F238E27FC236}">
                <a16:creationId xmlns:a16="http://schemas.microsoft.com/office/drawing/2014/main" id="{A7223AA5-2FB8-6E17-FEC1-58EF139D0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34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4BF6C-0928-B2C9-B1D5-C3EAC433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1DE0B-35BD-4685-9C70-B5370CF8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B0FC52-EDFA-A14F-89F7-07788A5F69AE}"/>
              </a:ext>
            </a:extLst>
          </p:cNvPr>
          <p:cNvSpPr txBox="1"/>
          <p:nvPr/>
        </p:nvSpPr>
        <p:spPr>
          <a:xfrm>
            <a:off x="952500" y="612844"/>
            <a:ext cx="10515600" cy="56323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b="1" dirty="0"/>
              <a:t>Os passos para criação de um aplicativo são:</a:t>
            </a:r>
          </a:p>
          <a:p>
            <a:endParaRPr lang="pt-BR" dirty="0"/>
          </a:p>
          <a:p>
            <a:pPr marL="342900" indent="-342900">
              <a:buFont typeface="+mj-lt"/>
              <a:buAutoNum type="arabicPeriod"/>
              <a:tabLst>
                <a:tab pos="4843463" algn="l"/>
              </a:tabLst>
            </a:pPr>
            <a:r>
              <a:rPr lang="pt-BR" b="1" dirty="0"/>
              <a:t>Criar o layout </a:t>
            </a:r>
            <a:r>
              <a:rPr lang="pt-BR" dirty="0"/>
              <a:t>	(desenhar a tela)</a:t>
            </a:r>
          </a:p>
          <a:p>
            <a:pPr marL="342900" indent="-342900">
              <a:buFont typeface="+mj-lt"/>
              <a:buAutoNum type="arabicPeriod"/>
              <a:tabLst>
                <a:tab pos="4843463" algn="l"/>
              </a:tabLst>
            </a:pPr>
            <a:r>
              <a:rPr lang="pt-BR" b="1" dirty="0"/>
              <a:t>Identificar os elementos</a:t>
            </a:r>
            <a:r>
              <a:rPr lang="pt-BR" dirty="0"/>
              <a:t>	(colocar ids aos elementos para localizar no código)</a:t>
            </a:r>
          </a:p>
          <a:p>
            <a:pPr marL="342900" indent="-342900">
              <a:buFont typeface="+mj-lt"/>
              <a:buAutoNum type="arabicPeriod"/>
              <a:tabLst>
                <a:tab pos="4843463" algn="l"/>
              </a:tabLst>
            </a:pPr>
            <a:r>
              <a:rPr lang="pt-BR" b="1" dirty="0"/>
              <a:t>No código, declarar as classes 	</a:t>
            </a:r>
            <a:r>
              <a:rPr lang="pt-BR" dirty="0"/>
              <a:t>para todos os elementos. As classes são os elementos que estão na 	tela como </a:t>
            </a:r>
            <a:r>
              <a:rPr lang="pt-BR" b="1" dirty="0" err="1"/>
              <a:t>TextView</a:t>
            </a:r>
            <a:r>
              <a:rPr lang="pt-BR" b="1" dirty="0"/>
              <a:t>, </a:t>
            </a:r>
            <a:r>
              <a:rPr lang="pt-BR" b="1" dirty="0" err="1"/>
              <a:t>EditText</a:t>
            </a:r>
            <a:r>
              <a:rPr lang="pt-BR" b="1" dirty="0"/>
              <a:t>, </a:t>
            </a:r>
            <a:r>
              <a:rPr lang="pt-BR" b="1" dirty="0" err="1"/>
              <a:t>ImageView</a:t>
            </a:r>
            <a:r>
              <a:rPr lang="pt-BR" b="1" dirty="0"/>
              <a:t> </a:t>
            </a:r>
            <a:r>
              <a:rPr lang="pt-BR" dirty="0"/>
              <a:t>entre outros. 	Declarar as classes nada mais é do que criar as classes 	com um tipo e um nome. Exemplo: </a:t>
            </a:r>
            <a:r>
              <a:rPr lang="pt-BR" b="1" dirty="0" err="1"/>
              <a:t>EditText</a:t>
            </a:r>
            <a:r>
              <a:rPr lang="pt-BR" b="1" dirty="0"/>
              <a:t> </a:t>
            </a:r>
            <a:r>
              <a:rPr lang="pt-BR" b="1" dirty="0" err="1"/>
              <a:t>edtEmail</a:t>
            </a:r>
            <a:r>
              <a:rPr lang="pt-BR" b="1" dirty="0"/>
              <a:t>. 	</a:t>
            </a:r>
            <a:r>
              <a:rPr lang="pt-BR" dirty="0"/>
              <a:t>Normalmente fazemos isso </a:t>
            </a:r>
            <a:r>
              <a:rPr lang="pt-BR" dirty="0" err="1"/>
              <a:t>la</a:t>
            </a:r>
            <a:r>
              <a:rPr lang="pt-BR" dirty="0"/>
              <a:t> no começo da classe, 1	pois assim o escopo fica global.</a:t>
            </a:r>
          </a:p>
          <a:p>
            <a:pPr marL="342900" indent="-342900">
              <a:buFont typeface="+mj-lt"/>
              <a:buAutoNum type="arabicPeriod"/>
              <a:tabLst>
                <a:tab pos="4843463" algn="l"/>
              </a:tabLst>
            </a:pPr>
            <a:r>
              <a:rPr lang="pt-BR" b="1" dirty="0"/>
              <a:t>Lincar os elementos	</a:t>
            </a:r>
            <a:r>
              <a:rPr lang="pt-BR" dirty="0"/>
              <a:t>ligar os elementos do layout com as classes criadas no código. Para isso usamos o método </a:t>
            </a:r>
            <a:r>
              <a:rPr lang="pt-BR" b="1" dirty="0" err="1"/>
              <a:t>findViewById</a:t>
            </a:r>
            <a:r>
              <a:rPr lang="pt-BR" b="1" dirty="0"/>
              <a:t>. Esse método procura no layout o elemento para ligar com a variável criada no código </a:t>
            </a:r>
            <a:r>
              <a:rPr lang="pt-BR" b="1" dirty="0" err="1"/>
              <a:t>java</a:t>
            </a:r>
            <a:r>
              <a:rPr lang="pt-BR" b="1" dirty="0"/>
              <a:t>. </a:t>
            </a:r>
            <a:r>
              <a:rPr lang="pt-BR" dirty="0"/>
              <a:t>Exemplo: </a:t>
            </a:r>
          </a:p>
          <a:p>
            <a:pPr marL="342900" indent="-342900">
              <a:buFont typeface="+mj-lt"/>
              <a:buAutoNum type="arabicPeriod"/>
              <a:tabLst>
                <a:tab pos="4843463" algn="l"/>
              </a:tabLst>
            </a:pPr>
            <a:r>
              <a:rPr lang="pt-BR" b="1" dirty="0"/>
              <a:t>Declaramos uma </a:t>
            </a:r>
            <a:r>
              <a:rPr lang="pt-BR" b="1" dirty="0" err="1"/>
              <a:t>EditText</a:t>
            </a:r>
            <a:r>
              <a:rPr lang="pt-BR" b="1" dirty="0"/>
              <a:t> nome	</a:t>
            </a:r>
            <a:r>
              <a:rPr lang="pt-BR" dirty="0"/>
              <a:t>dentro do método </a:t>
            </a:r>
            <a:r>
              <a:rPr lang="pt-BR" dirty="0" err="1"/>
              <a:t>onCreate</a:t>
            </a:r>
            <a:r>
              <a:rPr lang="pt-BR" dirty="0"/>
              <a:t>, colocamos o código</a:t>
            </a:r>
            <a:br>
              <a:rPr lang="pt-BR" dirty="0"/>
            </a:br>
            <a:r>
              <a:rPr lang="pt-BR" dirty="0"/>
              <a:t>	</a:t>
            </a:r>
            <a:r>
              <a:rPr lang="pt-BR" b="1" dirty="0"/>
              <a:t>nome 	= </a:t>
            </a:r>
            <a:r>
              <a:rPr lang="pt-BR" b="1" dirty="0" err="1"/>
              <a:t>findViewById</a:t>
            </a:r>
            <a:r>
              <a:rPr lang="pt-BR" b="1" dirty="0"/>
              <a:t>(</a:t>
            </a:r>
            <a:r>
              <a:rPr lang="pt-BR" b="1" dirty="0" err="1"/>
              <a:t>R.id.edt_nome</a:t>
            </a:r>
            <a:r>
              <a:rPr lang="pt-BR" b="1" dirty="0"/>
              <a:t>) </a:t>
            </a:r>
            <a:r>
              <a:rPr lang="pt-BR" dirty="0"/>
              <a:t>e esse método 	liga o 	código ao elemento do layout.</a:t>
            </a:r>
          </a:p>
          <a:p>
            <a:pPr marL="342900" indent="-342900">
              <a:buFont typeface="+mj-lt"/>
              <a:buAutoNum type="arabicPeriod"/>
              <a:tabLst>
                <a:tab pos="4843463" algn="l"/>
              </a:tabLst>
            </a:pPr>
            <a:r>
              <a:rPr lang="pt-BR" b="1" dirty="0"/>
              <a:t>Desenvolver o código	</a:t>
            </a:r>
            <a:r>
              <a:rPr lang="pt-BR" dirty="0"/>
              <a:t> fazer a logica que queremos que </a:t>
            </a:r>
            <a:r>
              <a:rPr lang="pt-BR" dirty="0" err="1"/>
              <a:t>aconteca</a:t>
            </a:r>
            <a:r>
              <a:rPr lang="pt-BR" dirty="0"/>
              <a:t> ao clicar em 	um elemento ou digitar algo</a:t>
            </a:r>
            <a:endParaRPr lang="pt-BR" b="1" dirty="0"/>
          </a:p>
          <a:p>
            <a:pPr marL="342900" indent="-342900">
              <a:buFont typeface="+mj-lt"/>
              <a:buAutoNum type="arabicPeriod"/>
              <a:tabLst>
                <a:tab pos="4843463" algn="l"/>
              </a:tabLst>
            </a:pPr>
            <a:endParaRPr lang="pt-BR" b="1" dirty="0"/>
          </a:p>
          <a:p>
            <a:pPr marL="342900" indent="-342900">
              <a:buFont typeface="+mj-lt"/>
              <a:buAutoNum type="arabicPeriod"/>
              <a:tabLst>
                <a:tab pos="4843463" algn="l"/>
              </a:tabLst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66658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91690-41E1-7A38-654B-109D2F63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689E5-8076-F103-3958-D7E147BE7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3231055-63B1-D984-DF76-E00B509EDC63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começar o projeto, apague todo o </a:t>
            </a:r>
            <a:r>
              <a:rPr lang="pt-BR" dirty="0" err="1"/>
              <a:t>textview</a:t>
            </a:r>
            <a:r>
              <a:rPr lang="pt-BR" dirty="0"/>
              <a:t>, e nas propriedades da tela, apague a cor de fundo e o </a:t>
            </a:r>
            <a:r>
              <a:rPr lang="pt-BR" dirty="0" err="1"/>
              <a:t>gravity</a:t>
            </a:r>
            <a:r>
              <a:rPr lang="pt-BR" dirty="0"/>
              <a:t> que estava centralizando o texto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653DBFFA-FDD8-82F1-941D-5E58EECA8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80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9F1D-3B19-C2B9-E8BF-941447B8A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59917-00E0-D1A8-B44B-9371D4A1D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94F9982-A7EE-90B0-571B-8E1FFF2A9255}"/>
              </a:ext>
            </a:extLst>
          </p:cNvPr>
          <p:cNvSpPr txBox="1"/>
          <p:nvPr/>
        </p:nvSpPr>
        <p:spPr>
          <a:xfrm>
            <a:off x="8964386" y="1253331"/>
            <a:ext cx="2806700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Todo componente tem que ficar dentro de um elemento, aqui o elemento é o </a:t>
            </a:r>
            <a:r>
              <a:rPr lang="pt-BR" b="1" dirty="0" err="1"/>
              <a:t>ImageView</a:t>
            </a:r>
            <a:r>
              <a:rPr lang="pt-BR" b="1" dirty="0"/>
              <a:t> </a:t>
            </a:r>
            <a:r>
              <a:rPr lang="pt-BR" dirty="0"/>
              <a:t>, e as propriedades:</a:t>
            </a:r>
          </a:p>
          <a:p>
            <a:r>
              <a:rPr lang="pt-BR" dirty="0"/>
              <a:t>Id sempre começa com “@+id/</a:t>
            </a:r>
            <a:r>
              <a:rPr lang="pt-BR" b="1" dirty="0"/>
              <a:t>nome</a:t>
            </a:r>
            <a:endParaRPr lang="pt-BR" dirty="0"/>
          </a:p>
          <a:p>
            <a:r>
              <a:rPr lang="pt-BR" dirty="0"/>
              <a:t>Aqui temos uma largura e altura </a:t>
            </a:r>
            <a:r>
              <a:rPr lang="pt-BR" dirty="0" err="1"/>
              <a:t>wrap_content</a:t>
            </a:r>
            <a:r>
              <a:rPr lang="pt-BR" dirty="0"/>
              <a:t>. Essa largura faz o elemento </a:t>
            </a:r>
            <a:r>
              <a:rPr lang="pt-BR" b="1" dirty="0" err="1"/>
              <a:t>ImageView</a:t>
            </a:r>
            <a:r>
              <a:rPr lang="pt-BR" b="1" dirty="0"/>
              <a:t> </a:t>
            </a:r>
            <a:r>
              <a:rPr lang="pt-BR" dirty="0"/>
              <a:t> se ajustar ao tamanho da imagem</a:t>
            </a:r>
          </a:p>
        </p:txBody>
      </p:sp>
      <p:pic>
        <p:nvPicPr>
          <p:cNvPr id="10" name="Espaço Reservado para Conteúdo 9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AF59FEBB-DD63-EECD-366A-74AEEE836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25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58AFA-472C-4750-E154-26CA6610D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7ACEE-BAC9-8B73-64F7-85392726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64D9E49-BBEB-AFC2-F77B-EA4A9B762910}"/>
              </a:ext>
            </a:extLst>
          </p:cNvPr>
          <p:cNvSpPr txBox="1"/>
          <p:nvPr/>
        </p:nvSpPr>
        <p:spPr>
          <a:xfrm>
            <a:off x="8964386" y="474345"/>
            <a:ext cx="2806700" cy="59093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Mas podemos ajustar o tamanho da imagem passando uma altura e uma largura em </a:t>
            </a:r>
            <a:r>
              <a:rPr lang="pt-BR" b="1" dirty="0" err="1"/>
              <a:t>dp</a:t>
            </a:r>
            <a:endParaRPr lang="pt-BR" b="1" dirty="0"/>
          </a:p>
          <a:p>
            <a:r>
              <a:rPr lang="pt-BR" dirty="0"/>
              <a:t>Reparem que o elemento, a caixa agora esta do tamanho da imagem. </a:t>
            </a:r>
          </a:p>
          <a:p>
            <a:r>
              <a:rPr lang="pt-BR" b="1" dirty="0" err="1"/>
              <a:t>wrap_content</a:t>
            </a:r>
            <a:r>
              <a:rPr lang="pt-BR" b="1" dirty="0"/>
              <a:t> </a:t>
            </a:r>
            <a:r>
              <a:rPr lang="pt-BR" dirty="0"/>
              <a:t>ajusta o tamanho do elemento ao conteúdo.</a:t>
            </a:r>
          </a:p>
          <a:p>
            <a:r>
              <a:rPr lang="pt-BR" b="1" dirty="0" err="1"/>
              <a:t>Match_parent</a:t>
            </a:r>
            <a:r>
              <a:rPr lang="pt-BR" b="1" dirty="0"/>
              <a:t> </a:t>
            </a:r>
            <a:r>
              <a:rPr lang="pt-BR" dirty="0"/>
              <a:t>o tamanho do elemento ocupa todo espaço disponível vertical ou horizontalmente.</a:t>
            </a:r>
          </a:p>
          <a:p>
            <a:r>
              <a:rPr lang="pt-BR" b="1" dirty="0"/>
              <a:t>Aqui defini um tamanho para o elemento e a imagem ficou dentro.</a:t>
            </a:r>
          </a:p>
          <a:p>
            <a:r>
              <a:rPr lang="pt-BR" dirty="0"/>
              <a:t>Aproveitei para colocar no centro com </a:t>
            </a:r>
            <a:r>
              <a:rPr lang="pt-BR" dirty="0" err="1"/>
              <a:t>gravity</a:t>
            </a:r>
            <a:endParaRPr lang="pt-BR" dirty="0"/>
          </a:p>
          <a:p>
            <a:r>
              <a:rPr lang="pt-BR" dirty="0"/>
              <a:t>Margem de 30dp pra separar do topo</a:t>
            </a:r>
          </a:p>
        </p:txBody>
      </p:sp>
      <p:pic>
        <p:nvPicPr>
          <p:cNvPr id="10" name="Espaço Reservado para Conteúdo 9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54562360-34DF-E507-241E-36895E662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72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EFAB-2989-1C2A-9E9B-13F6FBD3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371AC-F397-5622-4448-4D4645E2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0F9655-3C36-2F1E-8D0D-51D4710257DB}"/>
              </a:ext>
            </a:extLst>
          </p:cNvPr>
          <p:cNvSpPr txBox="1"/>
          <p:nvPr/>
        </p:nvSpPr>
        <p:spPr>
          <a:xfrm>
            <a:off x="8964386" y="1253331"/>
            <a:ext cx="2806700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elemento para receber digitação é o </a:t>
            </a:r>
            <a:r>
              <a:rPr lang="pt-BR" b="1" dirty="0" err="1"/>
              <a:t>EditText</a:t>
            </a:r>
            <a:endParaRPr lang="pt-BR" dirty="0"/>
          </a:p>
          <a:p>
            <a:r>
              <a:rPr lang="pt-BR" dirty="0"/>
              <a:t>Propriedades:</a:t>
            </a:r>
          </a:p>
          <a:p>
            <a:r>
              <a:rPr lang="pt-BR" dirty="0"/>
              <a:t>Id	</a:t>
            </a:r>
            <a:r>
              <a:rPr lang="pt-BR" dirty="0" err="1"/>
              <a:t>edt_email</a:t>
            </a:r>
            <a:endParaRPr lang="pt-BR" dirty="0"/>
          </a:p>
          <a:p>
            <a:r>
              <a:rPr lang="pt-BR" dirty="0" err="1"/>
              <a:t>Width</a:t>
            </a:r>
            <a:r>
              <a:rPr lang="pt-BR" dirty="0"/>
              <a:t>	</a:t>
            </a:r>
            <a:r>
              <a:rPr lang="pt-BR" dirty="0" err="1"/>
              <a:t>match_parent</a:t>
            </a:r>
            <a:endParaRPr lang="pt-BR" dirty="0"/>
          </a:p>
          <a:p>
            <a:r>
              <a:rPr lang="pt-BR" dirty="0" err="1"/>
              <a:t>Height</a:t>
            </a:r>
            <a:r>
              <a:rPr lang="pt-BR" dirty="0"/>
              <a:t>	</a:t>
            </a:r>
            <a:r>
              <a:rPr lang="pt-BR" dirty="0" err="1"/>
              <a:t>wrap_content</a:t>
            </a:r>
            <a:r>
              <a:rPr lang="pt-BR" dirty="0"/>
              <a:t>: largura pegando todo o tamanho do dispositivo, altura pegando o tamanho do texto mais o </a:t>
            </a:r>
            <a:r>
              <a:rPr lang="pt-BR" dirty="0" err="1"/>
              <a:t>padding</a:t>
            </a:r>
            <a:endParaRPr lang="pt-BR" dirty="0"/>
          </a:p>
          <a:p>
            <a:r>
              <a:rPr lang="pt-BR" dirty="0" err="1"/>
              <a:t>Padding</a:t>
            </a:r>
            <a:r>
              <a:rPr lang="pt-BR" dirty="0"/>
              <a:t>	margem interna</a:t>
            </a:r>
          </a:p>
          <a:p>
            <a:r>
              <a:rPr lang="pt-BR" dirty="0"/>
              <a:t>E as margens superior, esquerda e direita.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4C523D64-D5D9-19A5-12AA-211F09CDD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63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92276-7BAD-3218-25BA-AC1EE908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1D58D-B047-C6A4-DF1D-2AD74A08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49D9AB8-C121-018F-CD79-9910824B8127}"/>
              </a:ext>
            </a:extLst>
          </p:cNvPr>
          <p:cNvSpPr txBox="1"/>
          <p:nvPr/>
        </p:nvSpPr>
        <p:spPr>
          <a:xfrm>
            <a:off x="8964386" y="1253331"/>
            <a:ext cx="2806700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Boa pratica: ao terminar de colocar as propriedades do elemento, colapsar, para evitar alterar algo que já esta pronto.</a:t>
            </a:r>
          </a:p>
          <a:p>
            <a:r>
              <a:rPr lang="pt-BR" dirty="0"/>
              <a:t>Para colapsar, clicar na seta logo a frente do numero da linha</a:t>
            </a:r>
          </a:p>
        </p:txBody>
      </p:sp>
      <p:pic>
        <p:nvPicPr>
          <p:cNvPr id="10" name="Espaço Reservado para Conteúdo 9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C9E6480C-F0C6-DBFD-81B2-5BBEF8FC2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04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24123-39A1-928D-F0A3-E9D2E636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C87EB-262F-C89C-4C6F-23EBE93C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6C2F5B-4068-EAC4-80BD-C79E5BAF7233}"/>
              </a:ext>
            </a:extLst>
          </p:cNvPr>
          <p:cNvSpPr txBox="1"/>
          <p:nvPr/>
        </p:nvSpPr>
        <p:spPr>
          <a:xfrm>
            <a:off x="8964386" y="1253331"/>
            <a:ext cx="2806700" cy="3416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Ao selecionar um elemento colapsado, ele seleciona todas as  propriedades do elemento.</a:t>
            </a:r>
          </a:p>
          <a:p>
            <a:r>
              <a:rPr lang="pt-BR" dirty="0"/>
              <a:t>Selecionar copiar e colar em baixo, deixando uma linha para facilitar o entendimento do código.</a:t>
            </a:r>
          </a:p>
          <a:p>
            <a:r>
              <a:rPr lang="pt-BR" dirty="0"/>
              <a:t>Aqui ficou vermelho pois dois elementos não podem ter o mesmo nome</a:t>
            </a:r>
          </a:p>
        </p:txBody>
      </p:sp>
      <p:pic>
        <p:nvPicPr>
          <p:cNvPr id="4" name="Espaço Reservado para Conteúdo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91D1B709-5438-BE12-75CF-F9AE0B3CC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55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63181-08A1-930E-18A1-C67BBD33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3C612-D8B6-EA90-9A34-0B143EF7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02CCE0-28D7-4577-45F0-597A330D6280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Altere o id e o </a:t>
            </a:r>
            <a:r>
              <a:rPr lang="pt-BR" dirty="0" err="1"/>
              <a:t>hint</a:t>
            </a:r>
            <a:r>
              <a:rPr lang="pt-BR" dirty="0"/>
              <a:t>. </a:t>
            </a:r>
            <a:r>
              <a:rPr lang="pt-BR" dirty="0" err="1"/>
              <a:t>Hint</a:t>
            </a:r>
            <a:r>
              <a:rPr lang="pt-BR" dirty="0"/>
              <a:t> é a dica de digitação do campo.</a:t>
            </a:r>
          </a:p>
          <a:p>
            <a:r>
              <a:rPr lang="pt-BR" dirty="0"/>
              <a:t>Altere a </a:t>
            </a:r>
            <a:r>
              <a:rPr lang="pt-BR" dirty="0" err="1"/>
              <a:t>mtop</a:t>
            </a:r>
            <a:r>
              <a:rPr lang="pt-BR" dirty="0"/>
              <a:t> para 10dp deixando os campos mais juntos</a:t>
            </a:r>
          </a:p>
        </p:txBody>
      </p:sp>
      <p:pic>
        <p:nvPicPr>
          <p:cNvPr id="4" name="Espaço Reservado para Conteúdo 3" descr="Tela de computador com jogo&#10;&#10;O conteúdo gerado por IA pode estar incorreto.">
            <a:extLst>
              <a:ext uri="{FF2B5EF4-FFF2-40B4-BE49-F238E27FC236}">
                <a16:creationId xmlns:a16="http://schemas.microsoft.com/office/drawing/2014/main" id="{3B7969C2-85BA-98EA-081D-609241EBF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66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8D11-80DD-2FAC-ED0A-BAE324B6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4AEDB-0DB3-5FB1-9041-6DA331C62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315F59-DA37-10E0-2955-04E6DB27766E}"/>
              </a:ext>
            </a:extLst>
          </p:cNvPr>
          <p:cNvSpPr txBox="1"/>
          <p:nvPr/>
        </p:nvSpPr>
        <p:spPr>
          <a:xfrm>
            <a:off x="8964386" y="1253331"/>
            <a:ext cx="2806700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Vai ter um </a:t>
            </a:r>
            <a:r>
              <a:rPr lang="pt-BR" b="1" dirty="0" err="1"/>
              <a:t>TextView</a:t>
            </a:r>
            <a:r>
              <a:rPr lang="pt-BR" b="1" dirty="0"/>
              <a:t> </a:t>
            </a:r>
            <a:r>
              <a:rPr lang="pt-BR" dirty="0"/>
              <a:t> para mostrar mensagens de erro em vermelho.</a:t>
            </a:r>
          </a:p>
          <a:p>
            <a:r>
              <a:rPr lang="pt-BR" dirty="0"/>
              <a:t>Para isso vamos criar as cores dentro do arquivo </a:t>
            </a:r>
            <a:r>
              <a:rPr lang="pt-BR" dirty="0" err="1"/>
              <a:t>colors</a:t>
            </a:r>
            <a:r>
              <a:rPr lang="pt-BR" dirty="0"/>
              <a:t> que esta dentro da pasta res/</a:t>
            </a:r>
            <a:r>
              <a:rPr lang="pt-BR" dirty="0" err="1"/>
              <a:t>values</a:t>
            </a:r>
            <a:r>
              <a:rPr lang="pt-BR" dirty="0"/>
              <a:t>.</a:t>
            </a:r>
          </a:p>
          <a:p>
            <a:r>
              <a:rPr lang="pt-BR" dirty="0"/>
              <a:t>O valor das cores é o hexadecimal que vocês já conhecem.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77E74D7A-7A0C-CBC8-B091-E05D0D538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7878" r="37754" b="8646"/>
          <a:stretch>
            <a:fillRect/>
          </a:stretch>
        </p:blipFill>
        <p:spPr>
          <a:xfrm>
            <a:off x="5153025" y="1441450"/>
            <a:ext cx="188595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58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ECBA-8D4C-E212-6C0D-E84953FB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58BF3-3DF1-2DD1-0DDE-9B549DB3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4D88F30-2E0E-B466-7804-18D2C08B3048}"/>
              </a:ext>
            </a:extLst>
          </p:cNvPr>
          <p:cNvSpPr txBox="1"/>
          <p:nvPr/>
        </p:nvSpPr>
        <p:spPr>
          <a:xfrm>
            <a:off x="8964386" y="1253331"/>
            <a:ext cx="28067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acrescentar as cores basta colocar no arquivo </a:t>
            </a:r>
            <a:r>
              <a:rPr lang="pt-BR" dirty="0" err="1"/>
              <a:t>colors</a:t>
            </a:r>
            <a:r>
              <a:rPr lang="pt-BR" dirty="0"/>
              <a:t>.</a:t>
            </a:r>
          </a:p>
          <a:p>
            <a:r>
              <a:rPr lang="pt-BR" dirty="0"/>
              <a:t>Esse arquivo tem uma chave que eh o nome da cor e um valor que eh o hexadecimal da cor.</a:t>
            </a:r>
          </a:p>
          <a:p>
            <a:r>
              <a:rPr lang="pt-BR" dirty="0"/>
              <a:t>O jeito mais fácil de fazer é dar um </a:t>
            </a:r>
            <a:r>
              <a:rPr lang="pt-BR" dirty="0" err="1"/>
              <a:t>control</a:t>
            </a:r>
            <a:r>
              <a:rPr lang="pt-BR" dirty="0"/>
              <a:t> + d na ultima cor para duplicar e mudar o nome e o valor.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9B6D08D-7E63-40EE-2103-2F83EA15E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89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2658-50BA-8923-E054-13E4AE36B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93C6E-CE20-BCCA-7150-AADD8888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EAFD7D-89A6-E9C4-59E3-9A3542D60E85}"/>
              </a:ext>
            </a:extLst>
          </p:cNvPr>
          <p:cNvSpPr txBox="1"/>
          <p:nvPr/>
        </p:nvSpPr>
        <p:spPr>
          <a:xfrm>
            <a:off x="8964386" y="1253331"/>
            <a:ext cx="2806700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basta colocar a cor, a margem e um tamanho de texto</a:t>
            </a:r>
          </a:p>
          <a:p>
            <a:r>
              <a:rPr lang="pt-BR" dirty="0"/>
              <a:t>Não precisa colocar o texto, pois colocaremos depois via programação.</a:t>
            </a:r>
          </a:p>
          <a:p>
            <a:r>
              <a:rPr lang="pt-BR" dirty="0"/>
              <a:t>Coloquei </a:t>
            </a:r>
            <a:r>
              <a:rPr lang="pt-BR" dirty="0" err="1"/>
              <a:t>so</a:t>
            </a:r>
            <a:r>
              <a:rPr lang="pt-BR" dirty="0"/>
              <a:t> pra vocês verem como ficara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C64EEC11-33E0-A666-6361-35AD7BC326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11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44AA6-DD27-FF72-7C21-E3A07448E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0CC82-F68C-30A3-621C-A743EBBA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C5EAE6-910F-307C-8CF8-C66EF047622F}"/>
              </a:ext>
            </a:extLst>
          </p:cNvPr>
          <p:cNvSpPr txBox="1"/>
          <p:nvPr/>
        </p:nvSpPr>
        <p:spPr>
          <a:xfrm>
            <a:off x="8964386" y="1253331"/>
            <a:ext cx="28067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Desse jeito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C9AACECE-7568-6E73-4EC2-5D7321ADA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06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16B6A-3938-A619-48E8-F680D4D2D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D3A2A-01A1-130B-3B43-4D42C414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0E8FAD-CBCD-3077-7580-F221D88991D7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App:cornerRadius</a:t>
            </a:r>
            <a:r>
              <a:rPr lang="pt-BR" dirty="0"/>
              <a:t> deixa o botão menos arredondado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F05D96F0-28C2-0C29-95DF-02F0898ED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115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C63EC-991F-7F15-722F-2AAAC783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36203-3472-90D8-4C0E-6DA4DDA0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2B22B4-B140-CE95-4E73-CC97C223F935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Um texto para criar a conta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89349D1-5E46-B179-D8C1-228641126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96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CF89D-1495-F078-9582-6C67627C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74CEB-FA5D-29BF-2EF4-5C77313DE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075955-A790-1E17-3438-EC36CA3E944B}"/>
              </a:ext>
            </a:extLst>
          </p:cNvPr>
          <p:cNvSpPr txBox="1"/>
          <p:nvPr/>
        </p:nvSpPr>
        <p:spPr>
          <a:xfrm>
            <a:off x="8964386" y="1253331"/>
            <a:ext cx="28067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</a:t>
            </a:r>
            <a:r>
              <a:rPr lang="pt-BR" dirty="0" err="1"/>
              <a:t>progressbar</a:t>
            </a:r>
            <a:r>
              <a:rPr lang="pt-BR" dirty="0"/>
              <a:t> por padrão não vem em vermelho, então mudamos a cor dela com </a:t>
            </a:r>
            <a:r>
              <a:rPr lang="pt-BR" dirty="0" err="1"/>
              <a:t>indeterminateTint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70FD9DD-4062-0742-7145-140A3ACFE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873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871E-E04C-7D2F-D5F7-2E346F631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5F4B2-5E76-99F3-285B-845712CF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76E58E9-1757-EC87-B835-126212CDB4D9}"/>
              </a:ext>
            </a:extLst>
          </p:cNvPr>
          <p:cNvSpPr txBox="1"/>
          <p:nvPr/>
        </p:nvSpPr>
        <p:spPr>
          <a:xfrm>
            <a:off x="8964386" y="1253331"/>
            <a:ext cx="2806700" cy="369331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Rodamos para ver como esta ficando no celular.</a:t>
            </a:r>
          </a:p>
          <a:p>
            <a:r>
              <a:rPr lang="pt-BR" dirty="0"/>
              <a:t>Mas podemos melhorar estilizando.</a:t>
            </a:r>
          </a:p>
          <a:p>
            <a:r>
              <a:rPr lang="pt-BR" dirty="0"/>
              <a:t>Por exemplo temos aqui na direita os campos </a:t>
            </a:r>
            <a:r>
              <a:rPr lang="pt-BR" dirty="0" err="1"/>
              <a:t>email</a:t>
            </a:r>
            <a:r>
              <a:rPr lang="pt-BR" dirty="0"/>
              <a:t> e senha com uma borda arredondada.</a:t>
            </a:r>
          </a:p>
          <a:p>
            <a:r>
              <a:rPr lang="pt-BR" dirty="0"/>
              <a:t>No </a:t>
            </a:r>
            <a:r>
              <a:rPr lang="pt-BR" dirty="0" err="1"/>
              <a:t>android</a:t>
            </a:r>
            <a:r>
              <a:rPr lang="pt-BR" dirty="0"/>
              <a:t> temos que desenhar essa borda para poder usar.</a:t>
            </a:r>
          </a:p>
          <a:p>
            <a:r>
              <a:rPr lang="pt-BR" dirty="0"/>
              <a:t>Fazemos isso usando o </a:t>
            </a:r>
            <a:r>
              <a:rPr lang="pt-BR" dirty="0" err="1"/>
              <a:t>xml</a:t>
            </a:r>
            <a:endParaRPr lang="pt-BR" dirty="0"/>
          </a:p>
        </p:txBody>
      </p:sp>
      <p:pic>
        <p:nvPicPr>
          <p:cNvPr id="10" name="Espaço Reservado para Conteúdo 9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65B6DE74-88CF-67F2-06F9-9197511BF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  <p:pic>
        <p:nvPicPr>
          <p:cNvPr id="12" name="Imagem 11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1960F88D-A8BD-E3A1-56BB-EEC3C192E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47" y="1253331"/>
            <a:ext cx="19761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81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42743-FB97-6770-6DF3-5AA0066E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5C996-3EC9-EAB5-7B75-4C376226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E734A7-0C4E-AB8A-D952-3BCF1DC41B33}"/>
              </a:ext>
            </a:extLst>
          </p:cNvPr>
          <p:cNvSpPr txBox="1"/>
          <p:nvPr/>
        </p:nvSpPr>
        <p:spPr>
          <a:xfrm>
            <a:off x="8964386" y="1253331"/>
            <a:ext cx="28067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criar um arquivo de desenho, vamos na pasta </a:t>
            </a:r>
            <a:r>
              <a:rPr lang="pt-BR" dirty="0" err="1"/>
              <a:t>drawable</a:t>
            </a:r>
            <a:r>
              <a:rPr lang="pt-BR" dirty="0"/>
              <a:t> com o botão direito e </a:t>
            </a:r>
            <a:r>
              <a:rPr lang="pt-BR" b="1" dirty="0"/>
              <a:t>new </a:t>
            </a:r>
            <a:r>
              <a:rPr lang="pt-BR" b="1" dirty="0" err="1"/>
              <a:t>resource</a:t>
            </a:r>
            <a:r>
              <a:rPr lang="pt-BR" b="1" dirty="0"/>
              <a:t> file.</a:t>
            </a:r>
            <a:endParaRPr lang="pt-BR" dirty="0"/>
          </a:p>
        </p:txBody>
      </p:sp>
      <p:pic>
        <p:nvPicPr>
          <p:cNvPr id="4" name="Espaço Reservado para Conteúdo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75431101-5FEF-D805-BC2F-F9FF4C6D3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10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58F6D-1363-7BED-132E-84D4117C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886CD-3685-1A75-BFEC-3EFF71A60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452C00-1E63-D5B3-5418-5CCE3A0364AE}"/>
              </a:ext>
            </a:extLst>
          </p:cNvPr>
          <p:cNvSpPr txBox="1"/>
          <p:nvPr/>
        </p:nvSpPr>
        <p:spPr>
          <a:xfrm>
            <a:off x="8964386" y="1253331"/>
            <a:ext cx="280670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Na tela seguinte colocamos um nome e mudamos o elemento para shape (desenho)</a:t>
            </a:r>
          </a:p>
        </p:txBody>
      </p:sp>
      <p:pic>
        <p:nvPicPr>
          <p:cNvPr id="10" name="Espaço Reservado para Conteúdo 9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4F93E32-A64F-7C07-71C3-F60CD2EFF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27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D414E-F012-AB78-699B-DF44FA35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71A88-56C0-D919-1347-1BB3431BE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2A6824-F69C-9017-D87B-840224E00752}"/>
              </a:ext>
            </a:extLst>
          </p:cNvPr>
          <p:cNvSpPr txBox="1"/>
          <p:nvPr/>
        </p:nvSpPr>
        <p:spPr>
          <a:xfrm>
            <a:off x="8964386" y="1253331"/>
            <a:ext cx="280670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Abrimos no modo split para ir desenhando e vendo como esta ficando.</a:t>
            </a:r>
          </a:p>
        </p:txBody>
      </p:sp>
      <p:pic>
        <p:nvPicPr>
          <p:cNvPr id="7" name="Espaço Reservado para Conteúdo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DC40F6A-BB67-CD75-3A5B-C7F1E254E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920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9CB72-D770-8061-9634-98988E8C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1A9CD-E8A5-FC27-D747-7459AED1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01D505-9A92-79FC-86C6-DA1802458549}"/>
              </a:ext>
            </a:extLst>
          </p:cNvPr>
          <p:cNvSpPr txBox="1"/>
          <p:nvPr/>
        </p:nvSpPr>
        <p:spPr>
          <a:xfrm>
            <a:off x="8964386" y="1253331"/>
            <a:ext cx="2806700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Dentro do shape, vamos criar uma cor de fundo solida branca</a:t>
            </a:r>
          </a:p>
          <a:p>
            <a:r>
              <a:rPr lang="pt-BR" dirty="0"/>
              <a:t>Borda arredondada com </a:t>
            </a:r>
            <a:r>
              <a:rPr lang="pt-BR" dirty="0" err="1"/>
              <a:t>radius</a:t>
            </a:r>
            <a:endParaRPr lang="pt-BR" dirty="0"/>
          </a:p>
          <a:p>
            <a:r>
              <a:rPr lang="pt-BR" dirty="0"/>
              <a:t>Borda externa na cor cinza e na largura de 2dp.</a:t>
            </a:r>
          </a:p>
          <a:p>
            <a:r>
              <a:rPr lang="pt-BR" dirty="0"/>
              <a:t>Aqui coloquei 15dp </a:t>
            </a:r>
            <a:r>
              <a:rPr lang="pt-BR" dirty="0" err="1"/>
              <a:t>so</a:t>
            </a:r>
            <a:r>
              <a:rPr lang="pt-BR" dirty="0"/>
              <a:t> pra ficar bem </a:t>
            </a:r>
            <a:r>
              <a:rPr lang="pt-BR" dirty="0" err="1"/>
              <a:t>visivel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88467A5-6FEB-2585-7C4D-2EDB0F952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61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83239-3A6E-C623-0D03-30CA2A0F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75C68-0D8A-CFD8-EBEF-81FFBDFC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A65ED8-54F8-8E35-4948-201945F6BCD9}"/>
              </a:ext>
            </a:extLst>
          </p:cNvPr>
          <p:cNvSpPr txBox="1"/>
          <p:nvPr/>
        </p:nvSpPr>
        <p:spPr>
          <a:xfrm>
            <a:off x="8964386" y="1253331"/>
            <a:ext cx="28067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adicionar a borda basta colocar a propriedade </a:t>
            </a:r>
            <a:r>
              <a:rPr lang="pt-BR" dirty="0" err="1"/>
              <a:t>backgorund</a:t>
            </a:r>
            <a:r>
              <a:rPr lang="pt-BR" dirty="0"/>
              <a:t> com o nome da borda criada.</a:t>
            </a:r>
          </a:p>
        </p:txBody>
      </p:sp>
      <p:pic>
        <p:nvPicPr>
          <p:cNvPr id="4" name="Espaço Reservado para Conteúdo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2B6E69E-1969-A27E-0545-AF1DB4E4A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838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A83EC-501B-7ACC-CE2F-01B0D753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831ED-9803-55E2-8A74-7F84CD72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168821-2B4F-8B93-263B-D55A5CC5E006}"/>
              </a:ext>
            </a:extLst>
          </p:cNvPr>
          <p:cNvSpPr txBox="1"/>
          <p:nvPr/>
        </p:nvSpPr>
        <p:spPr>
          <a:xfrm>
            <a:off x="8964386" y="1253331"/>
            <a:ext cx="2806700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Outra coisa legal a se fazer é limitar a digitação em uma linha, para não estragar o layout.</a:t>
            </a:r>
          </a:p>
          <a:p>
            <a:r>
              <a:rPr lang="pt-BR" dirty="0"/>
              <a:t>Podemos limitar os caracteres ou a linha.</a:t>
            </a:r>
          </a:p>
          <a:p>
            <a:r>
              <a:rPr lang="pt-BR" dirty="0"/>
              <a:t>Nesse caso como não sabemos a quantidade de caracteres do </a:t>
            </a:r>
            <a:r>
              <a:rPr lang="pt-BR" dirty="0" err="1"/>
              <a:t>email</a:t>
            </a:r>
            <a:r>
              <a:rPr lang="pt-BR" dirty="0"/>
              <a:t>, limitamos a linha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EC4B63D3-4F4C-AEC4-81AE-DB2BDF3E6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17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AE6D6-422A-3E2C-F04C-58FE47C5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66DF0-C1EF-FAAE-5EE6-1C04E67D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DF18C8B-327A-88D9-93E1-C73BBD12E20E}"/>
              </a:ext>
            </a:extLst>
          </p:cNvPr>
          <p:cNvSpPr txBox="1"/>
          <p:nvPr/>
        </p:nvSpPr>
        <p:spPr>
          <a:xfrm>
            <a:off x="8964386" y="1253331"/>
            <a:ext cx="28067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Propriedade </a:t>
            </a:r>
            <a:r>
              <a:rPr lang="pt-BR" dirty="0" err="1"/>
              <a:t>maxlines</a:t>
            </a:r>
            <a:r>
              <a:rPr lang="pt-BR" dirty="0"/>
              <a:t>=1 limita a uma linha e se a quantidade de caracteres for </a:t>
            </a:r>
            <a:r>
              <a:rPr lang="pt-BR" dirty="0" err="1"/>
              <a:t>maiour</a:t>
            </a:r>
            <a:r>
              <a:rPr lang="pt-BR" dirty="0"/>
              <a:t> que a tela, o texto vai rolar.</a:t>
            </a:r>
          </a:p>
        </p:txBody>
      </p:sp>
      <p:pic>
        <p:nvPicPr>
          <p:cNvPr id="4" name="Espaço Reservado para Conteúdo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30418089-22A7-71EA-EBCE-0A7FA894A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354137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774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24B5-6DBB-002F-4F56-3BF60CCB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D6E11-5674-534F-CAD9-F4EDA315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B9F185-8F3B-C54A-08FB-C10AC5900301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Input </a:t>
            </a: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textEmailAddress</a:t>
            </a:r>
            <a:r>
              <a:rPr lang="pt-BR" dirty="0"/>
              <a:t> </a:t>
            </a:r>
            <a:r>
              <a:rPr lang="pt-BR" dirty="0" err="1"/>
              <a:t>so</a:t>
            </a:r>
            <a:r>
              <a:rPr lang="pt-BR" dirty="0"/>
              <a:t> pode inserir </a:t>
            </a:r>
            <a:r>
              <a:rPr lang="pt-BR" dirty="0" err="1"/>
              <a:t>emails</a:t>
            </a:r>
            <a:r>
              <a:rPr lang="pt-BR" dirty="0"/>
              <a:t> validos</a:t>
            </a:r>
          </a:p>
          <a:p>
            <a:r>
              <a:rPr lang="pt-BR" dirty="0" err="1"/>
              <a:t>numberPassword</a:t>
            </a:r>
            <a:r>
              <a:rPr lang="pt-BR" dirty="0"/>
              <a:t> não mostra os </a:t>
            </a:r>
            <a:r>
              <a:rPr lang="pt-BR" dirty="0" err="1"/>
              <a:t>caracreres</a:t>
            </a:r>
            <a:r>
              <a:rPr lang="pt-BR" dirty="0"/>
              <a:t> e </a:t>
            </a:r>
            <a:r>
              <a:rPr lang="pt-BR" dirty="0" err="1"/>
              <a:t>so</a:t>
            </a:r>
            <a:r>
              <a:rPr lang="pt-BR" dirty="0"/>
              <a:t> aceita números.</a:t>
            </a:r>
          </a:p>
        </p:txBody>
      </p:sp>
      <p:pic>
        <p:nvPicPr>
          <p:cNvPr id="4" name="Espaço Reservado para Conteúdo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615DC2D8-7E6B-4C47-2DE6-52F169050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836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5838-A18F-DF37-9902-4CD6485AB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52842-0B18-9223-B772-ECAF70BC0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CD8F17-3DBC-72E8-9B83-2948FDD1A989}"/>
              </a:ext>
            </a:extLst>
          </p:cNvPr>
          <p:cNvSpPr txBox="1"/>
          <p:nvPr/>
        </p:nvSpPr>
        <p:spPr>
          <a:xfrm>
            <a:off x="8964386" y="1253331"/>
            <a:ext cx="28067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Outra coisa, quando o campo for numérico, o teclado do celular muda para numérico, facilitando a digitação.</a:t>
            </a:r>
          </a:p>
        </p:txBody>
      </p:sp>
      <p:pic>
        <p:nvPicPr>
          <p:cNvPr id="4" name="Espaço Reservado para Conteúdo 3" descr="Tela de celular&#10;&#10;O conteúdo gerado por IA pode estar incorreto.">
            <a:extLst>
              <a:ext uri="{FF2B5EF4-FFF2-40B4-BE49-F238E27FC236}">
                <a16:creationId xmlns:a16="http://schemas.microsoft.com/office/drawing/2014/main" id="{3D13DC87-155F-7179-668D-9F7E5D516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64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8B9AC-2CB2-116D-045A-435E70C74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19A0B-FF61-4DC5-30BA-3F5D1F7F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6F17FB-7854-D345-2464-DAE17D2A333C}"/>
              </a:ext>
            </a:extLst>
          </p:cNvPr>
          <p:cNvSpPr txBox="1"/>
          <p:nvPr/>
        </p:nvSpPr>
        <p:spPr>
          <a:xfrm>
            <a:off x="8964386" y="1253331"/>
            <a:ext cx="280670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propriedade </a:t>
            </a:r>
            <a:r>
              <a:rPr lang="pt-BR" dirty="0" err="1"/>
              <a:t>visibility</a:t>
            </a:r>
            <a:r>
              <a:rPr lang="pt-BR" dirty="0"/>
              <a:t> </a:t>
            </a:r>
            <a:r>
              <a:rPr lang="pt-BR" dirty="0" err="1"/>
              <a:t>invisible</a:t>
            </a:r>
            <a:r>
              <a:rPr lang="pt-BR" dirty="0"/>
              <a:t> torna o elemento invisível.</a:t>
            </a:r>
          </a:p>
        </p:txBody>
      </p:sp>
      <p:pic>
        <p:nvPicPr>
          <p:cNvPr id="4" name="Espaço Reservado para Conteúdo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9A498B9F-0883-2D96-C6ED-022034E3B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973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9C34F-E94C-8B34-6078-EDD2DAB81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D4A74-1145-C521-6874-2C6FAEA56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AEF437-FE47-70EB-42B5-51625D573688}"/>
              </a:ext>
            </a:extLst>
          </p:cNvPr>
          <p:cNvSpPr txBox="1"/>
          <p:nvPr/>
        </p:nvSpPr>
        <p:spPr>
          <a:xfrm>
            <a:off x="8964386" y="1253331"/>
            <a:ext cx="28067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 </a:t>
            </a:r>
            <a:r>
              <a:rPr lang="pt-BR" dirty="0" err="1"/>
              <a:t>quizer</a:t>
            </a:r>
            <a:r>
              <a:rPr lang="pt-BR" dirty="0"/>
              <a:t> que </a:t>
            </a:r>
            <a:r>
              <a:rPr lang="pt-BR" dirty="0" err="1"/>
              <a:t>apareca</a:t>
            </a:r>
            <a:r>
              <a:rPr lang="pt-BR" dirty="0"/>
              <a:t> a cor vermelha da </a:t>
            </a:r>
            <a:r>
              <a:rPr lang="pt-BR" dirty="0" err="1"/>
              <a:t>statusbar</a:t>
            </a:r>
            <a:r>
              <a:rPr lang="pt-BR" dirty="0"/>
              <a:t>, tem que mudar no tema colocando essas duas linhas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16A029B-DB1A-D512-875A-CB01452C5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84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7291-B69C-ED40-5793-3402711B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49241-1107-6529-C41B-CAE617F4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D2C2F0-E2B8-79EE-1051-77506E6A9096}"/>
              </a:ext>
            </a:extLst>
          </p:cNvPr>
          <p:cNvSpPr txBox="1"/>
          <p:nvPr/>
        </p:nvSpPr>
        <p:spPr>
          <a:xfrm>
            <a:off x="8964386" y="1253331"/>
            <a:ext cx="280670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Comentar essa linha, pois ela exibe o aplicativo com tela cheia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6C33ECA6-C3EB-AFD5-5BA0-26F3C9CCE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841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A4CB-CE70-B684-5554-914BEAE3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196A5-4791-B4B6-6483-12FFB996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F75B35-E6F6-18CF-8DCA-E18C6949D2FD}"/>
              </a:ext>
            </a:extLst>
          </p:cNvPr>
          <p:cNvSpPr txBox="1"/>
          <p:nvPr/>
        </p:nvSpPr>
        <p:spPr>
          <a:xfrm>
            <a:off x="8964386" y="1253331"/>
            <a:ext cx="2806700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diferença eh a barra de status em cima, na cor vermelha que criamos </a:t>
            </a:r>
            <a:r>
              <a:rPr lang="pt-BR" dirty="0" err="1"/>
              <a:t>la</a:t>
            </a:r>
            <a:r>
              <a:rPr lang="pt-BR" dirty="0"/>
              <a:t> no arquivo </a:t>
            </a:r>
            <a:r>
              <a:rPr lang="pt-BR" dirty="0" err="1"/>
              <a:t>colors</a:t>
            </a:r>
            <a:r>
              <a:rPr lang="pt-BR" dirty="0"/>
              <a:t> e mudamos no tema.</a:t>
            </a:r>
          </a:p>
          <a:p>
            <a:r>
              <a:rPr lang="pt-BR" dirty="0"/>
              <a:t>Eu particularmente prefiro sem a barra.</a:t>
            </a:r>
          </a:p>
        </p:txBody>
      </p:sp>
      <p:pic>
        <p:nvPicPr>
          <p:cNvPr id="4" name="Espaço Reservado para Conteúdo 3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8499F958-9370-8DF9-A50C-E24E8CE75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037" y="1906474"/>
            <a:ext cx="1828996" cy="4351338"/>
          </a:xfrm>
          <a:prstGeom prst="rect">
            <a:avLst/>
          </a:prstGeom>
        </p:spPr>
      </p:pic>
      <p:pic>
        <p:nvPicPr>
          <p:cNvPr id="7" name="Imagem 6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2C218E8F-0BA6-EA21-DDC1-A8733309B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6474"/>
            <a:ext cx="1827443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385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4321-E36E-15E4-D6ED-BC242EC48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CE4A4-6179-341E-25DD-0AE4D463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BD70EE-87EE-7FE3-2908-825DBA6962F9}"/>
              </a:ext>
            </a:extLst>
          </p:cNvPr>
          <p:cNvSpPr txBox="1"/>
          <p:nvPr/>
        </p:nvSpPr>
        <p:spPr>
          <a:xfrm>
            <a:off x="8964386" y="1253331"/>
            <a:ext cx="2806700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deitamos a tela do celular, não conseguimos ver os outros campos nem acessar o botão que não esta cabendo na tela</a:t>
            </a:r>
          </a:p>
          <a:p>
            <a:r>
              <a:rPr lang="pt-BR" dirty="0"/>
              <a:t>Para resolver isso precisamos colocar um </a:t>
            </a:r>
            <a:r>
              <a:rPr lang="pt-BR" dirty="0" err="1"/>
              <a:t>scrool</a:t>
            </a:r>
            <a:r>
              <a:rPr lang="pt-BR" dirty="0"/>
              <a:t>, aquela barra de rolagem para poder rolar a tela.</a:t>
            </a:r>
          </a:p>
          <a:p>
            <a:r>
              <a:rPr lang="pt-BR" dirty="0"/>
              <a:t>A tela inteira tem que ficar dentro do </a:t>
            </a:r>
            <a:r>
              <a:rPr lang="pt-BR" dirty="0" err="1"/>
              <a:t>scrool</a:t>
            </a:r>
            <a:r>
              <a:rPr lang="pt-BR" dirty="0"/>
              <a:t> para poder funcionar</a:t>
            </a:r>
          </a:p>
        </p:txBody>
      </p:sp>
      <p:pic>
        <p:nvPicPr>
          <p:cNvPr id="4" name="Espaço Reservado para Conteúdo 3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6DA28295-145C-F51F-3A46-756E191FF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745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375F-046B-3D28-307A-9AFD63EE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B9B03-3100-E3BD-6244-E5F712DC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3E5493-00EE-7F9A-62D8-465B0DBF52B4}"/>
              </a:ext>
            </a:extLst>
          </p:cNvPr>
          <p:cNvSpPr txBox="1"/>
          <p:nvPr/>
        </p:nvSpPr>
        <p:spPr>
          <a:xfrm>
            <a:off x="8964386" y="1253331"/>
            <a:ext cx="2806700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primeira coisa a fazer é abrir uma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NestedScroolView</a:t>
            </a:r>
            <a:r>
              <a:rPr lang="pt-BR" dirty="0"/>
              <a:t> e colocar os argumentos </a:t>
            </a:r>
            <a:r>
              <a:rPr lang="pt-BR" dirty="0" err="1"/>
              <a:t>android:width</a:t>
            </a:r>
            <a:r>
              <a:rPr lang="pt-BR" dirty="0"/>
              <a:t> e </a:t>
            </a:r>
            <a:r>
              <a:rPr lang="pt-BR" dirty="0" err="1"/>
              <a:t>android:height</a:t>
            </a:r>
            <a:endParaRPr lang="pt-BR" dirty="0"/>
          </a:p>
          <a:p>
            <a:r>
              <a:rPr lang="pt-BR" dirty="0"/>
              <a:t>Largura e altura.</a:t>
            </a:r>
          </a:p>
          <a:p>
            <a:endParaRPr lang="pt-BR" dirty="0"/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20707ABD-D13C-1F6A-4735-B618D1E79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233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C328-D834-0786-9AE6-DC616933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47172-9DE3-95BD-BBB5-405C6296B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B65D38-5298-6420-3F5B-7FDE970FDFD2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Proximo</a:t>
            </a:r>
            <a:r>
              <a:rPr lang="pt-BR" dirty="0"/>
              <a:t> passo: copiar o </a:t>
            </a:r>
            <a:r>
              <a:rPr lang="pt-BR" dirty="0" err="1"/>
              <a:t>namespace</a:t>
            </a:r>
            <a:r>
              <a:rPr lang="pt-BR" dirty="0"/>
              <a:t> do </a:t>
            </a:r>
            <a:r>
              <a:rPr lang="pt-BR" dirty="0" err="1"/>
              <a:t>linearlayout</a:t>
            </a:r>
            <a:r>
              <a:rPr lang="pt-BR" dirty="0"/>
              <a:t> e colar na linha do </a:t>
            </a:r>
            <a:r>
              <a:rPr lang="pt-BR" dirty="0" err="1"/>
              <a:t>scrool</a:t>
            </a:r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namespace</a:t>
            </a:r>
            <a:r>
              <a:rPr lang="pt-BR" dirty="0"/>
              <a:t> é essa parte hachurada em azul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6EFDC159-409E-8A12-5673-F47E9E2BC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260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D8A4-9B1D-F05A-0033-A7ED6A92A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00835-9317-87DC-99C5-394EAA46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DBF187-F8A3-AEBE-5D6E-73836FBF3D4E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Percebam que o </a:t>
            </a:r>
            <a:r>
              <a:rPr lang="pt-BR" dirty="0" err="1"/>
              <a:t>scrool</a:t>
            </a:r>
            <a:r>
              <a:rPr lang="pt-BR" dirty="0"/>
              <a:t> não esta mais vermelho. Mas temos que fazer o fechamento dele </a:t>
            </a:r>
            <a:r>
              <a:rPr lang="pt-BR" dirty="0" err="1"/>
              <a:t>la</a:t>
            </a:r>
            <a:r>
              <a:rPr lang="pt-BR" dirty="0"/>
              <a:t> no final do </a:t>
            </a:r>
            <a:r>
              <a:rPr lang="pt-BR" dirty="0" err="1"/>
              <a:t>linearlayout</a:t>
            </a:r>
            <a:r>
              <a:rPr lang="pt-BR" dirty="0"/>
              <a:t> para ele ficar dentro: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EAF07CDB-0E9F-99C3-4E63-F7303E1F9E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904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0968-9F35-7232-70F1-C11EF0DF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030A4-C1EE-7F1A-224D-9EB747E4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61CE61-C767-9C15-405D-EE29E8F0B8FC}"/>
              </a:ext>
            </a:extLst>
          </p:cNvPr>
          <p:cNvSpPr txBox="1"/>
          <p:nvPr/>
        </p:nvSpPr>
        <p:spPr>
          <a:xfrm>
            <a:off x="8964386" y="1253331"/>
            <a:ext cx="2806700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Fechamos a </a:t>
            </a:r>
            <a:r>
              <a:rPr lang="pt-BR" dirty="0" err="1"/>
              <a:t>tag</a:t>
            </a:r>
            <a:r>
              <a:rPr lang="pt-BR" dirty="0"/>
              <a:t> com o sinal de maior e como todas as </a:t>
            </a:r>
            <a:r>
              <a:rPr lang="pt-BR" dirty="0" err="1"/>
              <a:t>tags</a:t>
            </a:r>
            <a:r>
              <a:rPr lang="pt-BR" dirty="0"/>
              <a:t> do layout </a:t>
            </a:r>
            <a:r>
              <a:rPr lang="pt-BR" dirty="0" err="1"/>
              <a:t>vao</a:t>
            </a:r>
            <a:r>
              <a:rPr lang="pt-BR" dirty="0"/>
              <a:t> ficar dentro do </a:t>
            </a:r>
            <a:r>
              <a:rPr lang="pt-BR" dirty="0" err="1"/>
              <a:t>scrool</a:t>
            </a:r>
            <a:r>
              <a:rPr lang="pt-BR" dirty="0"/>
              <a:t>, ele mesmo já faz o fechamento completo.</a:t>
            </a:r>
          </a:p>
          <a:p>
            <a:r>
              <a:rPr lang="pt-BR" dirty="0"/>
              <a:t>Mas temos que cortar o fechamento daqui e colar no final do layout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7957360A-0B3E-BCE1-2A46-70995FD0C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302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EACB-9936-A260-53E3-0CD53B02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48FF6-C67F-BD3C-FA6B-19AECEE35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14B3B7-AF76-6C25-0D4C-D2F5E6B8CDAB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Outra coisa importante eh </a:t>
            </a:r>
            <a:r>
              <a:rPr lang="pt-BR" dirty="0" err="1"/>
              <a:t>identar</a:t>
            </a:r>
            <a:r>
              <a:rPr lang="pt-BR" dirty="0"/>
              <a:t>, colocar tudo que esta dentro do </a:t>
            </a:r>
            <a:r>
              <a:rPr lang="pt-BR" dirty="0" err="1"/>
              <a:t>scrool</a:t>
            </a:r>
            <a:r>
              <a:rPr lang="pt-BR" dirty="0"/>
              <a:t> mais para direita. Podemos colapsar o layout e dar um </a:t>
            </a:r>
            <a:r>
              <a:rPr lang="pt-BR" dirty="0" err="1"/>
              <a:t>tab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2AA1FFF-644C-0296-0833-13509F635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636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5B84-65FC-3533-4269-70E0C102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E9D94-76DA-56A8-B112-CC56F6FE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89E130-C41E-3929-1B8C-57149C7F6289}"/>
              </a:ext>
            </a:extLst>
          </p:cNvPr>
          <p:cNvSpPr txBox="1"/>
          <p:nvPr/>
        </p:nvSpPr>
        <p:spPr>
          <a:xfrm>
            <a:off x="8964386" y="1253331"/>
            <a:ext cx="2806700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Agora a rolagem esta habilitada quando deitamos o celular.</a:t>
            </a:r>
          </a:p>
          <a:p>
            <a:r>
              <a:rPr lang="pt-BR" dirty="0"/>
              <a:t>Com isso a gente termina o layout da tela de login.</a:t>
            </a:r>
          </a:p>
          <a:p>
            <a:r>
              <a:rPr lang="pt-BR" dirty="0"/>
              <a:t>Agora, quando a gente clicar em Crie a sua conta, a gente tem que ir para outra tela que eh a tela de cadastro onde efetivamente vamos cadastrar o </a:t>
            </a:r>
            <a:r>
              <a:rPr lang="pt-BR" dirty="0" err="1"/>
              <a:t>usuario</a:t>
            </a:r>
            <a:r>
              <a:rPr lang="pt-BR" dirty="0"/>
              <a:t>, então o próximo passo seria criar essa tela.</a:t>
            </a:r>
          </a:p>
        </p:txBody>
      </p:sp>
      <p:pic>
        <p:nvPicPr>
          <p:cNvPr id="10" name="Espaço Reservado para Conteúdo 9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1079B9FB-5C41-0C96-DC38-E81EC9003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691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E7F7-A110-CB57-070E-72CC4C52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BC265-D974-EFD4-3ABB-F555D4D1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F0215C-CFFA-6B9E-E7F8-4FFB73295042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Ao terminarmos o layout, e legal deixar os campos colapsados, assim os ids deles ficam mais visíveis na hora em que precisarmos deles.</a:t>
            </a:r>
          </a:p>
        </p:txBody>
      </p:sp>
      <p:pic>
        <p:nvPicPr>
          <p:cNvPr id="4" name="Espaço Reservado para Conteúdo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0FB3BDFB-CF4E-83DD-FF67-B72712A45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7883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94B70-5511-AB04-4B17-9C29256AF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D62EE-29B9-914A-79A1-99912A96C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E2EEC2-686F-3207-7290-B1C3ADB75A33}"/>
              </a:ext>
            </a:extLst>
          </p:cNvPr>
          <p:cNvSpPr txBox="1"/>
          <p:nvPr/>
        </p:nvSpPr>
        <p:spPr>
          <a:xfrm>
            <a:off x="8964386" y="1253331"/>
            <a:ext cx="2806700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 próxima tela que eh a de cadastro, temos que criar uma nova </a:t>
            </a:r>
            <a:r>
              <a:rPr lang="pt-BR" dirty="0" err="1"/>
              <a:t>activity</a:t>
            </a:r>
            <a:r>
              <a:rPr lang="pt-BR" dirty="0"/>
              <a:t>, pois uma </a:t>
            </a:r>
            <a:r>
              <a:rPr lang="pt-BR" dirty="0" err="1"/>
              <a:t>activity</a:t>
            </a:r>
            <a:r>
              <a:rPr lang="pt-BR" dirty="0"/>
              <a:t> é o conjunto de tela mais código.</a:t>
            </a:r>
          </a:p>
          <a:p>
            <a:r>
              <a:rPr lang="pt-BR" dirty="0" err="1"/>
              <a:t>Botao</a:t>
            </a:r>
            <a:r>
              <a:rPr lang="pt-BR" dirty="0"/>
              <a:t> direito no pacote principal </a:t>
            </a:r>
            <a:r>
              <a:rPr lang="pt-BR" b="1" dirty="0"/>
              <a:t>new </a:t>
            </a:r>
            <a:r>
              <a:rPr lang="pt-BR" b="1" dirty="0" err="1"/>
              <a:t>activity</a:t>
            </a:r>
            <a:r>
              <a:rPr lang="pt-BR" b="1" dirty="0"/>
              <a:t> </a:t>
            </a:r>
            <a:r>
              <a:rPr lang="pt-BR" b="1" dirty="0" err="1"/>
              <a:t>empty</a:t>
            </a:r>
            <a:r>
              <a:rPr lang="pt-BR" b="1" dirty="0"/>
              <a:t> </a:t>
            </a:r>
            <a:r>
              <a:rPr lang="pt-BR" b="1" dirty="0" err="1"/>
              <a:t>views</a:t>
            </a:r>
            <a:r>
              <a:rPr lang="pt-BR" b="1" dirty="0"/>
              <a:t> </a:t>
            </a:r>
            <a:r>
              <a:rPr lang="pt-BR" b="1" dirty="0" err="1"/>
              <a:t>activity</a:t>
            </a:r>
            <a:endParaRPr lang="pt-BR" dirty="0"/>
          </a:p>
        </p:txBody>
      </p:sp>
      <p:pic>
        <p:nvPicPr>
          <p:cNvPr id="4" name="Espaço Reservado para Conteúdo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95833B54-90C8-2C12-F79B-0A10B7B91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371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3D1E-FC36-D68E-4BC1-E3830511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4AB49-1F13-5566-6FBF-E04F9D85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11653C0-0140-4538-986D-CFA7942CA37D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Nessa tela basta dar um nome para ela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60386BD3-3143-2A5F-4466-FAAC6BA35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86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1FE6F-AE8B-501B-C324-6E53CDBE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41B4F-A5C2-9799-EE7C-88A8608C6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AAA0E9-542E-FAEA-694F-A8DE9DA7B8EE}"/>
              </a:ext>
            </a:extLst>
          </p:cNvPr>
          <p:cNvSpPr txBox="1"/>
          <p:nvPr/>
        </p:nvSpPr>
        <p:spPr>
          <a:xfrm>
            <a:off x="8964386" y="1253331"/>
            <a:ext cx="2806700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medida em que vamos abrindo ou criando novos arquivos, nossa tela fica com muitos arquivos abertos, mas podemos fechar um por um, ou fechar todos de uma vez, ou todos a esquerda ou a direita.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8122329-7030-7CDA-6D6F-2C64786D5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943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12064-3E7C-7D9C-8FCF-A3A4E09C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B2DB6-5370-83A1-8DE2-F74BBC008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DAB8A7-95CF-340C-AC80-4C6E306016D7}"/>
              </a:ext>
            </a:extLst>
          </p:cNvPr>
          <p:cNvSpPr txBox="1"/>
          <p:nvPr/>
        </p:nvSpPr>
        <p:spPr>
          <a:xfrm>
            <a:off x="8504236" y="365125"/>
            <a:ext cx="3644900" cy="59093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Terminamos o nosso layout do login, agora quando o </a:t>
            </a:r>
            <a:r>
              <a:rPr lang="pt-BR" dirty="0" err="1"/>
              <a:t>usuario</a:t>
            </a:r>
            <a:r>
              <a:rPr lang="pt-BR" dirty="0"/>
              <a:t> clicar em Criar conta, queremos que o sistema </a:t>
            </a:r>
            <a:r>
              <a:rPr lang="pt-BR" dirty="0" err="1"/>
              <a:t>va</a:t>
            </a:r>
            <a:r>
              <a:rPr lang="pt-BR" dirty="0"/>
              <a:t> para a tela de cadastro de usuários que já criamos mas ainda não desenhamos.</a:t>
            </a:r>
          </a:p>
          <a:p>
            <a:r>
              <a:rPr lang="pt-BR" dirty="0"/>
              <a:t>Temos que criar um evento de clique no </a:t>
            </a:r>
            <a:r>
              <a:rPr lang="pt-BR" b="1" dirty="0" err="1"/>
              <a:t>TextView</a:t>
            </a:r>
            <a:r>
              <a:rPr lang="pt-BR" b="1" dirty="0"/>
              <a:t> </a:t>
            </a:r>
            <a:r>
              <a:rPr lang="pt-BR" dirty="0"/>
              <a:t> do criar conta.</a:t>
            </a:r>
          </a:p>
          <a:p>
            <a:r>
              <a:rPr lang="pt-BR" dirty="0"/>
              <a:t>Ao clicarmos dele queremos que mude de tela.</a:t>
            </a:r>
          </a:p>
          <a:p>
            <a:r>
              <a:rPr lang="pt-BR" dirty="0"/>
              <a:t>A classe que muda de tela, é a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Intent</a:t>
            </a:r>
            <a:r>
              <a:rPr lang="pt-BR" dirty="0"/>
              <a:t>(intenção) onde passamos a tela em que estamos e a tela para a qual queremos ir.</a:t>
            </a:r>
          </a:p>
          <a:p>
            <a:r>
              <a:rPr lang="pt-BR" dirty="0" err="1"/>
              <a:t>Entao</a:t>
            </a:r>
            <a:r>
              <a:rPr lang="pt-BR" dirty="0"/>
              <a:t> declaramos a classe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TextView</a:t>
            </a:r>
            <a:r>
              <a:rPr lang="pt-BR" dirty="0"/>
              <a:t> com o nome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criarConta</a:t>
            </a:r>
            <a:r>
              <a:rPr lang="pt-BR" dirty="0"/>
              <a:t>.</a:t>
            </a:r>
          </a:p>
          <a:p>
            <a:r>
              <a:rPr lang="pt-BR" dirty="0"/>
              <a:t>No </a:t>
            </a:r>
            <a:r>
              <a:rPr lang="pt-BR" dirty="0" err="1"/>
              <a:t>java</a:t>
            </a:r>
            <a:r>
              <a:rPr lang="pt-BR" dirty="0"/>
              <a:t> o padrão de criar variáveis eh o </a:t>
            </a:r>
            <a:r>
              <a:rPr lang="pt-BR" dirty="0" err="1"/>
              <a:t>camelCase</a:t>
            </a:r>
            <a:r>
              <a:rPr lang="pt-BR" dirty="0"/>
              <a:t>, a primeira letra sempre minúscula e a da palavra seguinte </a:t>
            </a:r>
            <a:r>
              <a:rPr lang="pt-BR" dirty="0" err="1"/>
              <a:t>maiuscula</a:t>
            </a:r>
            <a:endParaRPr lang="pt-BR" dirty="0"/>
          </a:p>
        </p:txBody>
      </p:sp>
      <p:pic>
        <p:nvPicPr>
          <p:cNvPr id="10" name="Espaço Reservado para Conteúdo 9" descr="Texto&#10;&#10;O conteúdo gerado por IA pode estar incorreto.">
            <a:extLst>
              <a:ext uri="{FF2B5EF4-FFF2-40B4-BE49-F238E27FC236}">
                <a16:creationId xmlns:a16="http://schemas.microsoft.com/office/drawing/2014/main" id="{DECD1A75-B4F5-E5F1-1BE0-374029295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0"/>
            <a:ext cx="75042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510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BB0C-0F4D-F353-26A4-B0FF3A2D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F189D-E865-3AE4-6E99-9CABE649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3FA0966-E9CF-FC34-B13C-13DFE79768CD}"/>
              </a:ext>
            </a:extLst>
          </p:cNvPr>
          <p:cNvSpPr txBox="1"/>
          <p:nvPr/>
        </p:nvSpPr>
        <p:spPr>
          <a:xfrm>
            <a:off x="8964386" y="1253331"/>
            <a:ext cx="2806700" cy="5078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Quando abrimos um aplicativo o primeiro método que roda é  o </a:t>
            </a:r>
            <a:r>
              <a:rPr lang="pt-BR" b="1" dirty="0" err="1"/>
              <a:t>onCreate</a:t>
            </a:r>
            <a:r>
              <a:rPr lang="pt-BR" b="1" dirty="0"/>
              <a:t>.</a:t>
            </a:r>
          </a:p>
          <a:p>
            <a:r>
              <a:rPr lang="pt-BR" dirty="0" err="1"/>
              <a:t>Entao</a:t>
            </a:r>
            <a:r>
              <a:rPr lang="pt-BR" dirty="0"/>
              <a:t> dentro dele temos que colocar o que queremos.</a:t>
            </a:r>
          </a:p>
          <a:p>
            <a:r>
              <a:rPr lang="pt-BR" dirty="0"/>
              <a:t>Mas podemos criar outros métodos fora do </a:t>
            </a:r>
            <a:r>
              <a:rPr lang="pt-BR" dirty="0" err="1"/>
              <a:t>onCreate</a:t>
            </a:r>
            <a:r>
              <a:rPr lang="pt-BR" dirty="0"/>
              <a:t> e chama-los </a:t>
            </a:r>
            <a:r>
              <a:rPr lang="pt-BR" dirty="0" err="1"/>
              <a:t>la</a:t>
            </a:r>
            <a:r>
              <a:rPr lang="pt-BR" dirty="0"/>
              <a:t> de dentro</a:t>
            </a:r>
          </a:p>
          <a:p>
            <a:r>
              <a:rPr lang="pt-BR" dirty="0"/>
              <a:t>Vou criar um método </a:t>
            </a:r>
            <a:r>
              <a:rPr lang="pt-BR" b="1" dirty="0" err="1"/>
              <a:t>initComponents</a:t>
            </a:r>
            <a:r>
              <a:rPr lang="pt-BR" dirty="0"/>
              <a:t> para ligar o elemento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criar cont</a:t>
            </a:r>
            <a:r>
              <a:rPr lang="pt-BR" dirty="0"/>
              <a:t>a do layout com o </a:t>
            </a:r>
            <a:r>
              <a:rPr lang="pt-BR" b="1" dirty="0"/>
              <a:t>objeto</a:t>
            </a:r>
            <a:r>
              <a:rPr lang="pt-BR" dirty="0"/>
              <a:t> </a:t>
            </a:r>
            <a:r>
              <a:rPr lang="pt-BR" b="1" dirty="0" err="1"/>
              <a:t>criarConta</a:t>
            </a:r>
            <a:r>
              <a:rPr lang="pt-BR" dirty="0"/>
              <a:t> que criamos aqui no Java.</a:t>
            </a:r>
          </a:p>
          <a:p>
            <a:r>
              <a:rPr lang="pt-BR" dirty="0"/>
              <a:t>Para isso basta digitar o nome do método ()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20737133-DBF3-213F-52C3-0C9D2E882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339819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548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DF67F-281F-59D9-FDF8-45355658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D2845-9EA8-91A2-AED1-53B63DCF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45ACDD-FFEA-0BAB-FB43-DD5282979E7A}"/>
              </a:ext>
            </a:extLst>
          </p:cNvPr>
          <p:cNvSpPr txBox="1"/>
          <p:nvPr/>
        </p:nvSpPr>
        <p:spPr>
          <a:xfrm>
            <a:off x="8964386" y="1253331"/>
            <a:ext cx="28067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 método ainda não existe então a IDE pergunta se queremos que ela crie pra gente. </a:t>
            </a:r>
          </a:p>
          <a:p>
            <a:r>
              <a:rPr lang="pt-BR" dirty="0"/>
              <a:t>Podemos deixar.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C16DA71-356A-E6A6-D120-838D606D6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246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42418-C499-8E3A-0226-340CFA1C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E6BE0-8FC4-DC5A-5875-02BFBBB5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190A044-4FD9-2399-2881-5A66E244BF8A}"/>
              </a:ext>
            </a:extLst>
          </p:cNvPr>
          <p:cNvSpPr txBox="1"/>
          <p:nvPr/>
        </p:nvSpPr>
        <p:spPr>
          <a:xfrm>
            <a:off x="8964386" y="1253331"/>
            <a:ext cx="2806700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No método a gente pega o nome do objeto que criamos  e ligamos com o elemento do layout.</a:t>
            </a:r>
          </a:p>
          <a:p>
            <a:r>
              <a:rPr lang="pt-BR" dirty="0"/>
              <a:t>Assim quando o </a:t>
            </a:r>
            <a:r>
              <a:rPr lang="pt-BR" dirty="0" err="1"/>
              <a:t>usuario</a:t>
            </a:r>
            <a:r>
              <a:rPr lang="pt-BR" dirty="0"/>
              <a:t> clicar no elemento </a:t>
            </a:r>
            <a:r>
              <a:rPr lang="pt-BR" b="1" dirty="0" err="1"/>
              <a:t>la</a:t>
            </a:r>
            <a:r>
              <a:rPr lang="pt-BR" b="1" dirty="0"/>
              <a:t> no layout</a:t>
            </a:r>
            <a:r>
              <a:rPr lang="pt-BR" dirty="0"/>
              <a:t>, o clique vai ser armazenado dentro desse </a:t>
            </a:r>
            <a:r>
              <a:rPr lang="pt-BR" dirty="0" err="1"/>
              <a:t>obeto</a:t>
            </a:r>
            <a:r>
              <a:rPr lang="pt-BR" dirty="0"/>
              <a:t> </a:t>
            </a:r>
            <a:r>
              <a:rPr lang="pt-BR" b="1" dirty="0" err="1"/>
              <a:t>criarUsuario</a:t>
            </a:r>
            <a:r>
              <a:rPr lang="pt-BR" dirty="0"/>
              <a:t> que criamos aqui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6D60E390-DCD8-4D0C-2BB6-A5008F7FA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167606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360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C2114-D1E7-903D-92EC-39FD1596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3F21E-C782-F3DC-D861-9CE15079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13DFF5-E38C-0FFA-2B1B-E8057B0DEAAE}"/>
              </a:ext>
            </a:extLst>
          </p:cNvPr>
          <p:cNvSpPr txBox="1"/>
          <p:nvPr/>
        </p:nvSpPr>
        <p:spPr>
          <a:xfrm>
            <a:off x="8964386" y="1253331"/>
            <a:ext cx="2806700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Uma vez ligado o layout ao código, podemos criar o evento de clique, usando o método </a:t>
            </a:r>
            <a:r>
              <a:rPr lang="pt-BR" dirty="0" err="1"/>
              <a:t>setOnClickListener</a:t>
            </a:r>
            <a:r>
              <a:rPr lang="pt-BR" dirty="0"/>
              <a:t> que pede o contexto de onde estamos e pra onde queremos ir.</a:t>
            </a:r>
          </a:p>
        </p:txBody>
      </p:sp>
      <p:pic>
        <p:nvPicPr>
          <p:cNvPr id="4" name="Espaço Reservado para Conteúdo 3" descr="Texto&#10;&#10;O conteúdo gerado por IA pode estar incorreto.">
            <a:extLst>
              <a:ext uri="{FF2B5EF4-FFF2-40B4-BE49-F238E27FC236}">
                <a16:creationId xmlns:a16="http://schemas.microsoft.com/office/drawing/2014/main" id="{16508558-9BC1-AF5B-3DA9-57A233A71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8948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69D2-DAD0-EA16-2462-80D8939E3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52F7D-C18E-43D3-E835-0859BB33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8CB00D-A4D0-D90A-62C8-50015DC2116B}"/>
              </a:ext>
            </a:extLst>
          </p:cNvPr>
          <p:cNvSpPr txBox="1"/>
          <p:nvPr/>
        </p:nvSpPr>
        <p:spPr>
          <a:xfrm>
            <a:off x="8964386" y="1253331"/>
            <a:ext cx="28067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testar, vamos colocar um texto centralizado no layout da tela de cadastro, lembrando de trocar o layout para </a:t>
            </a:r>
            <a:r>
              <a:rPr lang="pt-BR" b="1" dirty="0" err="1"/>
              <a:t>LinearLayout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44C1E2C-06C0-012E-8EC1-8D45C8256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243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B52B8-0CB9-70A7-01DC-8A744824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D741B-E101-9926-FF9C-F589AAB3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DF8650-1909-DFF9-3CC6-559D7996BD69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Rode o aplicativo e clique em </a:t>
            </a:r>
            <a:r>
              <a:rPr lang="pt-BR" b="1" dirty="0"/>
              <a:t>Crie a sua conta</a:t>
            </a:r>
            <a:endParaRPr lang="pt-BR" dirty="0"/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D3B7006-95A9-02EC-FEEA-4B7B19716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236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08A3-05E3-66EE-65EB-1AB214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20EF5-0DF7-CF31-58DB-07CACEDA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5462DF-4FB1-5C77-87E2-2AF04645C7CE}"/>
              </a:ext>
            </a:extLst>
          </p:cNvPr>
          <p:cNvSpPr txBox="1"/>
          <p:nvPr/>
        </p:nvSpPr>
        <p:spPr>
          <a:xfrm>
            <a:off x="8964386" y="1253331"/>
            <a:ext cx="2806700" cy="3970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Ele tem que mudar para a tela de cadastro.</a:t>
            </a:r>
          </a:p>
          <a:p>
            <a:r>
              <a:rPr lang="pt-BR" dirty="0"/>
              <a:t>O que a gente fez foi criar um evento de clique e dizer que ao clicar no texto </a:t>
            </a:r>
            <a:r>
              <a:rPr lang="pt-BR" b="1" dirty="0"/>
              <a:t>Crie sua conta </a:t>
            </a:r>
            <a:r>
              <a:rPr lang="pt-BR" dirty="0"/>
              <a:t>o aplicativo saia da tela em que esta e abra a tela dela de cadastro.</a:t>
            </a:r>
          </a:p>
          <a:p>
            <a:r>
              <a:rPr lang="pt-BR" dirty="0"/>
              <a:t>Essa tela fica sobreposta a tela de login, e se voltarmos com a seta do celular ele volta normalmente.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5BC4089-EB12-D9BB-09AE-C1562D700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752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4CC1A-489A-7E26-B484-B95E995F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A4240-9FD2-212E-6FA1-7E6C5777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E50157-40B0-E588-95DF-2EBF9A8FB27D}"/>
              </a:ext>
            </a:extLst>
          </p:cNvPr>
          <p:cNvSpPr txBox="1"/>
          <p:nvPr/>
        </p:nvSpPr>
        <p:spPr>
          <a:xfrm>
            <a:off x="7770114" y="2926683"/>
            <a:ext cx="3827236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tela de cadastro vai ter uma área para a foto, um </a:t>
            </a:r>
            <a:r>
              <a:rPr lang="pt-BR" b="1" dirty="0" err="1"/>
              <a:t>TextView</a:t>
            </a:r>
            <a:r>
              <a:rPr lang="pt-BR" b="1" dirty="0"/>
              <a:t> para o Titulo</a:t>
            </a:r>
            <a:r>
              <a:rPr lang="pt-BR" dirty="0"/>
              <a:t>, os campos nome </a:t>
            </a:r>
            <a:r>
              <a:rPr lang="pt-BR" dirty="0" err="1"/>
              <a:t>email</a:t>
            </a:r>
            <a:r>
              <a:rPr lang="pt-BR" dirty="0"/>
              <a:t> e senha e um botão cadastrar.</a:t>
            </a:r>
          </a:p>
          <a:p>
            <a:r>
              <a:rPr lang="pt-BR" dirty="0"/>
              <a:t>Para fazer siga os mesmos passos (</a:t>
            </a:r>
            <a:r>
              <a:rPr lang="pt-BR"/>
              <a:t>pode copiar) da tela de login</a:t>
            </a:r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816EE74A-7B34-C768-EA62-1FF3CB1B6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8664" y="1253331"/>
            <a:ext cx="2494671" cy="4351338"/>
          </a:xfrm>
        </p:spPr>
      </p:pic>
    </p:spTree>
    <p:extLst>
      <p:ext uri="{BB962C8B-B14F-4D97-AF65-F5344CB8AC3E}">
        <p14:creationId xmlns:p14="http://schemas.microsoft.com/office/powerpoint/2010/main" val="35227608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25D69-E9AC-A1F6-3177-B9705DB6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DFBB5-D5FB-ED50-4B86-82C36A817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6F5DED-9EF6-931D-938C-9425B160A5C3}"/>
              </a:ext>
            </a:extLst>
          </p:cNvPr>
          <p:cNvSpPr txBox="1"/>
          <p:nvPr/>
        </p:nvSpPr>
        <p:spPr>
          <a:xfrm>
            <a:off x="8964386" y="1253331"/>
            <a:ext cx="2806700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Uma parte muito importante em todo projeto, é o versionamento.</a:t>
            </a:r>
          </a:p>
          <a:p>
            <a:r>
              <a:rPr lang="pt-BR" dirty="0"/>
              <a:t>O versionamento pode ser feito direto do </a:t>
            </a:r>
            <a:r>
              <a:rPr lang="pt-BR" dirty="0" err="1"/>
              <a:t>android</a:t>
            </a:r>
            <a:r>
              <a:rPr lang="pt-BR" dirty="0"/>
              <a:t> </a:t>
            </a:r>
            <a:r>
              <a:rPr lang="pt-BR" dirty="0" err="1"/>
              <a:t>studio</a:t>
            </a:r>
            <a:r>
              <a:rPr lang="pt-BR" dirty="0"/>
              <a:t>, e a cada implementação tem que subir para o github.</a:t>
            </a:r>
          </a:p>
          <a:p>
            <a:r>
              <a:rPr lang="pt-BR" dirty="0"/>
              <a:t>Para </a:t>
            </a:r>
            <a:r>
              <a:rPr lang="pt-BR" b="1" dirty="0"/>
              <a:t>isso crie um repositório </a:t>
            </a:r>
            <a:r>
              <a:rPr lang="pt-BR" dirty="0"/>
              <a:t>no github.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420BD20-5A5B-88CA-1B21-F4E366F3E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695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719B2-2F69-FA06-3710-E6BA10C1B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C9409-3EDC-E186-E934-9165C721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5D4AE4A-9DB9-013D-F613-CEB67E77D83E}"/>
              </a:ext>
            </a:extLst>
          </p:cNvPr>
          <p:cNvSpPr txBox="1"/>
          <p:nvPr/>
        </p:nvSpPr>
        <p:spPr>
          <a:xfrm>
            <a:off x="8964386" y="1253331"/>
            <a:ext cx="2806700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Uma parte muito importante em todo projeto, é o versionamento.</a:t>
            </a:r>
          </a:p>
          <a:p>
            <a:r>
              <a:rPr lang="pt-BR" dirty="0"/>
              <a:t>O versionamento pode ser feito direto do </a:t>
            </a:r>
            <a:r>
              <a:rPr lang="pt-BR" dirty="0" err="1"/>
              <a:t>android</a:t>
            </a:r>
            <a:r>
              <a:rPr lang="pt-BR" dirty="0"/>
              <a:t> </a:t>
            </a:r>
            <a:r>
              <a:rPr lang="pt-BR" dirty="0" err="1"/>
              <a:t>studio</a:t>
            </a:r>
            <a:r>
              <a:rPr lang="pt-BR" dirty="0"/>
              <a:t>, e a cada implementação tem que subir para o github.</a:t>
            </a:r>
          </a:p>
          <a:p>
            <a:r>
              <a:rPr lang="pt-BR" dirty="0"/>
              <a:t>Para </a:t>
            </a:r>
            <a:r>
              <a:rPr lang="pt-BR" b="1" dirty="0"/>
              <a:t>isso crie um repositório </a:t>
            </a:r>
            <a:r>
              <a:rPr lang="pt-BR" dirty="0"/>
              <a:t>no github.</a:t>
            </a:r>
          </a:p>
          <a:p>
            <a:r>
              <a:rPr lang="pt-BR" dirty="0"/>
              <a:t>Com ele criado, copie o link e em seguida clique no </a:t>
            </a:r>
            <a:r>
              <a:rPr lang="pt-BR" dirty="0" err="1"/>
              <a:t>icone</a:t>
            </a:r>
            <a:r>
              <a:rPr lang="pt-BR" dirty="0"/>
              <a:t> do </a:t>
            </a:r>
            <a:r>
              <a:rPr lang="pt-BR" b="1" dirty="0" err="1"/>
              <a:t>Version</a:t>
            </a:r>
            <a:r>
              <a:rPr lang="pt-BR" b="1" dirty="0"/>
              <a:t> </a:t>
            </a:r>
            <a:r>
              <a:rPr lang="pt-BR" b="1" dirty="0" err="1"/>
              <a:t>Control</a:t>
            </a:r>
            <a:r>
              <a:rPr lang="pt-BR" b="1" dirty="0"/>
              <a:t>.</a:t>
            </a:r>
            <a:endParaRPr lang="pt-BR" dirty="0"/>
          </a:p>
          <a:p>
            <a:endParaRPr lang="pt-BR" dirty="0"/>
          </a:p>
        </p:txBody>
      </p:sp>
      <p:pic>
        <p:nvPicPr>
          <p:cNvPr id="10" name="Espaço Reservado para Conteúdo 9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03CA9316-05D0-1FAD-E2BD-BE1E7308F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527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CCBC9-1023-54A7-A0A0-13E6708CB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3A52B-BD5A-1AF8-8B16-CCCC5A339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F50B68C-5AF1-AACE-A1B7-C4E7A4CFB494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Clique em </a:t>
            </a: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repository</a:t>
            </a:r>
            <a:endParaRPr lang="pt-BR" dirty="0"/>
          </a:p>
        </p:txBody>
      </p:sp>
      <p:pic>
        <p:nvPicPr>
          <p:cNvPr id="4" name="Espaço Reservado para Conteúdo 3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79C9F12C-0AAD-4423-5F02-9279E66A6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8152E4AB-F34F-8625-6E5F-EDDACEBBB8A2}"/>
              </a:ext>
            </a:extLst>
          </p:cNvPr>
          <p:cNvSpPr/>
          <p:nvPr/>
        </p:nvSpPr>
        <p:spPr>
          <a:xfrm>
            <a:off x="2921794" y="4514851"/>
            <a:ext cx="1071562" cy="2857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9521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15BDE-52EC-5E0D-4B1F-3370454F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852E2-CC5D-765A-3D09-C17D0BFD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BD0A61-DA4C-F24D-A2A7-2D7DAFF772E1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Clique em selecionar pasta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5E0A8B8-6444-3154-7CC4-6B9FC3F3C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873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D808-2DDF-2860-A288-E27BE0BB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39448-C4B5-A0C9-E944-2141C9A0B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FAC89F-0854-ADC7-E0ED-9973F5D1A249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Clique em </a:t>
            </a:r>
            <a:r>
              <a:rPr lang="pt-BR" dirty="0" err="1"/>
              <a:t>commit</a:t>
            </a:r>
            <a:r>
              <a:rPr lang="pt-BR" dirty="0"/>
              <a:t> local </a:t>
            </a:r>
            <a:r>
              <a:rPr lang="pt-BR" dirty="0" err="1"/>
              <a:t>changes</a:t>
            </a:r>
            <a:endParaRPr lang="pt-BR" dirty="0"/>
          </a:p>
        </p:txBody>
      </p:sp>
      <p:pic>
        <p:nvPicPr>
          <p:cNvPr id="4" name="Espaço Reservado para Conteúdo 3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9214DD8B-3D39-9859-46DE-A6F004135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77D36EA4-C479-D5C0-E29E-151E7795FC86}"/>
              </a:ext>
            </a:extLst>
          </p:cNvPr>
          <p:cNvSpPr/>
          <p:nvPr/>
        </p:nvSpPr>
        <p:spPr>
          <a:xfrm>
            <a:off x="3488091" y="4688117"/>
            <a:ext cx="1016000" cy="33382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7452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A889-E540-6256-39DA-A2B9516E4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520FA-709C-613A-3E7C-3405E0A7F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BF144D-314E-924C-5DAC-6528E9AC614E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Clique em </a:t>
            </a:r>
            <a:r>
              <a:rPr lang="pt-BR" dirty="0" err="1"/>
              <a:t>unversionade</a:t>
            </a:r>
            <a:r>
              <a:rPr lang="pt-BR" dirty="0"/>
              <a:t> files.</a:t>
            </a:r>
          </a:p>
          <a:p>
            <a:r>
              <a:rPr lang="pt-BR" dirty="0"/>
              <a:t>Digite uma mensagem do progresso do trabalho e clique em </a:t>
            </a:r>
            <a:r>
              <a:rPr lang="pt-BR" dirty="0" err="1"/>
              <a:t>commit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push</a:t>
            </a:r>
            <a:endParaRPr lang="pt-BR" dirty="0"/>
          </a:p>
        </p:txBody>
      </p:sp>
      <p:pic>
        <p:nvPicPr>
          <p:cNvPr id="10" name="Espaço Reservado para Conteúdo 9" descr="Tela de celular com publicação numa rede social&#10;&#10;O conteúdo gerado por IA pode estar incorreto.">
            <a:extLst>
              <a:ext uri="{FF2B5EF4-FFF2-40B4-BE49-F238E27FC236}">
                <a16:creationId xmlns:a16="http://schemas.microsoft.com/office/drawing/2014/main" id="{F1D45306-61CB-3827-2571-55E344BF1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2EFF6823-E32D-D07D-7C4F-1042244C84A1}"/>
              </a:ext>
            </a:extLst>
          </p:cNvPr>
          <p:cNvSpPr/>
          <p:nvPr/>
        </p:nvSpPr>
        <p:spPr>
          <a:xfrm rot="4757175">
            <a:off x="946715" y="1492901"/>
            <a:ext cx="606694" cy="44280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1394A699-E3F5-3B75-3203-D8D153495C68}"/>
              </a:ext>
            </a:extLst>
          </p:cNvPr>
          <p:cNvSpPr/>
          <p:nvPr/>
        </p:nvSpPr>
        <p:spPr>
          <a:xfrm rot="2744055">
            <a:off x="1095828" y="2753657"/>
            <a:ext cx="1088571" cy="5080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0180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E13B-82DC-D293-9822-DD629B8B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D5A34-2B89-BCC2-F9DE-ED90C9983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B7277E-4468-1946-50C1-C69DE69EBC66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Aguarde o final do processo</a:t>
            </a:r>
          </a:p>
        </p:txBody>
      </p:sp>
      <p:pic>
        <p:nvPicPr>
          <p:cNvPr id="4" name="Espaço Reservado para Conteúdo 3" descr="Tela de celular com publicação numa rede social&#10;&#10;O conteúdo gerado por IA pode estar incorreto.">
            <a:extLst>
              <a:ext uri="{FF2B5EF4-FFF2-40B4-BE49-F238E27FC236}">
                <a16:creationId xmlns:a16="http://schemas.microsoft.com/office/drawing/2014/main" id="{54A71552-288F-016C-F2AA-0CB8CF2E6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7611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351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D3186-8402-46A7-815E-757D11BA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9285A-195F-5CFC-D861-F80D1949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B6A780-19BB-0808-5A1C-4BC5C1D2124E}"/>
              </a:ext>
            </a:extLst>
          </p:cNvPr>
          <p:cNvSpPr txBox="1"/>
          <p:nvPr/>
        </p:nvSpPr>
        <p:spPr>
          <a:xfrm>
            <a:off x="8964386" y="1253331"/>
            <a:ext cx="280670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 aparecer essa mensagem, </a:t>
            </a:r>
            <a:r>
              <a:rPr lang="pt-BR" dirty="0" err="1"/>
              <a:t>clque</a:t>
            </a:r>
            <a:r>
              <a:rPr lang="pt-BR" dirty="0"/>
              <a:t> em </a:t>
            </a:r>
            <a:r>
              <a:rPr lang="pt-BR" dirty="0" err="1"/>
              <a:t>commit</a:t>
            </a:r>
            <a:r>
              <a:rPr lang="pt-BR" dirty="0"/>
              <a:t> </a:t>
            </a:r>
            <a:r>
              <a:rPr lang="pt-BR" dirty="0" err="1"/>
              <a:t>anyway</a:t>
            </a:r>
            <a:endParaRPr lang="pt-BR" dirty="0"/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BBDC2AD-0A8F-C11B-39A9-D8DF247CC4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7AD2EB67-CEA0-CB3A-54D9-819666191549}"/>
              </a:ext>
            </a:extLst>
          </p:cNvPr>
          <p:cNvSpPr/>
          <p:nvPr/>
        </p:nvSpPr>
        <p:spPr>
          <a:xfrm>
            <a:off x="5921827" y="4586513"/>
            <a:ext cx="653143" cy="33382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4634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EEE76-76F2-9C6A-C6BF-242F89F30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528AB-D3A7-F129-5D44-8B203AFA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CA9ED9-FF85-A691-EFB9-34134A46E18A}"/>
              </a:ext>
            </a:extLst>
          </p:cNvPr>
          <p:cNvSpPr txBox="1"/>
          <p:nvPr/>
        </p:nvSpPr>
        <p:spPr>
          <a:xfrm>
            <a:off x="8964386" y="1253331"/>
            <a:ext cx="28067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Clique em define </a:t>
            </a:r>
            <a:r>
              <a:rPr lang="pt-BR" dirty="0" err="1"/>
              <a:t>remote</a:t>
            </a:r>
            <a:endParaRPr lang="pt-BR" dirty="0"/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79995A10-42A5-AA24-70A1-3A9BB75CF2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06700C32-62D2-9812-A420-26E0BA0D4B77}"/>
              </a:ext>
            </a:extLst>
          </p:cNvPr>
          <p:cNvSpPr/>
          <p:nvPr/>
        </p:nvSpPr>
        <p:spPr>
          <a:xfrm>
            <a:off x="2975430" y="1253331"/>
            <a:ext cx="348343" cy="73512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7487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D07A-F3A0-F924-7BD6-6E981467F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2F1BF-1643-2FFC-2B10-5858CD97F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78D1823-93C7-123A-4125-39386C9854E3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Cole o link do repositório e clique em ok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7803305D-E386-B9B5-7CDB-D60DC9BCE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6219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8F78-5E75-1452-FAEC-E39DE444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01933-BE37-E6D5-DD4F-4827CA02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5D4F92-3376-7429-B4D1-0C357CC48602}"/>
              </a:ext>
            </a:extLst>
          </p:cNvPr>
          <p:cNvSpPr txBox="1"/>
          <p:nvPr/>
        </p:nvSpPr>
        <p:spPr>
          <a:xfrm>
            <a:off x="8964386" y="1253331"/>
            <a:ext cx="28067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Clique em </a:t>
            </a:r>
            <a:r>
              <a:rPr lang="pt-BR" dirty="0" err="1"/>
              <a:t>push</a:t>
            </a:r>
            <a:r>
              <a:rPr lang="pt-BR" dirty="0"/>
              <a:t> e aguarde o final do processo</a:t>
            </a:r>
          </a:p>
        </p:txBody>
      </p:sp>
      <p:pic>
        <p:nvPicPr>
          <p:cNvPr id="4" name="Espaço Reservado para Conteúdo 3" descr="Tela de computador&#10;&#10;O conteúdo gerado por IA pode estar incorreto.">
            <a:extLst>
              <a:ext uri="{FF2B5EF4-FFF2-40B4-BE49-F238E27FC236}">
                <a16:creationId xmlns:a16="http://schemas.microsoft.com/office/drawing/2014/main" id="{2BF38495-20FF-4E03-D6B7-4C59B0395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775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F0A09-D7EA-F7D2-9A9D-016A9124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845AE-54A5-B0E4-5D30-DF696D77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AC3928-1887-2CFC-A39C-567EA501F5EE}"/>
              </a:ext>
            </a:extLst>
          </p:cNvPr>
          <p:cNvSpPr txBox="1"/>
          <p:nvPr/>
        </p:nvSpPr>
        <p:spPr>
          <a:xfrm>
            <a:off x="8964386" y="1253331"/>
            <a:ext cx="2806700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Pronto a versão esta finalizada.</a:t>
            </a:r>
          </a:p>
          <a:p>
            <a:r>
              <a:rPr lang="pt-BR" dirty="0"/>
              <a:t>Pode fechar a janela do </a:t>
            </a:r>
            <a:r>
              <a:rPr lang="pt-BR" dirty="0" err="1"/>
              <a:t>commit</a:t>
            </a:r>
            <a:r>
              <a:rPr lang="pt-BR" dirty="0"/>
              <a:t> e a janela do progresso do </a:t>
            </a:r>
            <a:r>
              <a:rPr lang="pt-BR" dirty="0" err="1"/>
              <a:t>commit</a:t>
            </a:r>
            <a:r>
              <a:rPr lang="pt-BR" dirty="0"/>
              <a:t> em baixo</a:t>
            </a:r>
          </a:p>
        </p:txBody>
      </p:sp>
      <p:pic>
        <p:nvPicPr>
          <p:cNvPr id="4" name="Espaço Reservado para Conteúdo 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EDB22B3-A94B-4388-B1F0-3B29E4B63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7920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4295D-EAB2-595B-4571-A8635E1A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A4612-8E22-D9B8-0D45-42B77511D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10A8411-23EB-8A90-84B1-B04EA55E0B53}"/>
              </a:ext>
            </a:extLst>
          </p:cNvPr>
          <p:cNvSpPr txBox="1"/>
          <p:nvPr/>
        </p:nvSpPr>
        <p:spPr>
          <a:xfrm>
            <a:off x="4692650" y="2413337"/>
            <a:ext cx="2806700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Fim da primeira parte.</a:t>
            </a:r>
          </a:p>
          <a:p>
            <a:r>
              <a:rPr lang="pt-BR" dirty="0"/>
              <a:t>Ate aqui criamos o app com uma tela de login e outra de cadastro. Ao clicar em criar conta o aplicativo tem que mudar para a tela de cadastro.</a:t>
            </a:r>
          </a:p>
        </p:txBody>
      </p:sp>
    </p:spTree>
    <p:extLst>
      <p:ext uri="{BB962C8B-B14F-4D97-AF65-F5344CB8AC3E}">
        <p14:creationId xmlns:p14="http://schemas.microsoft.com/office/powerpoint/2010/main" val="232204712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23FCC-1B04-B28A-39BF-42B1C3C0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CCE9C-1880-7B9A-B921-6AECC9B3A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6CE350-46DF-C362-F094-67B46CBFE660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DC125E4-7F2D-891B-880D-51156D21A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9182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C860-F00D-0FD9-FD2B-D2B215D5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7F638-9E91-7A7A-1556-8A67CCDC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5920F2-877C-7CEF-B505-788AA8868AA9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B6F4C1B-250C-9604-EDF5-03227829A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3737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4A309-3D24-5394-797B-6237F7C7D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A49E6-7E84-C4EF-11D6-9A1CF6EF8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FCBA4D6-259D-8FA3-0713-F4FF14C3872B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5F3165D-FE75-47E6-551B-4FAA2C54D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7765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4B0A-762A-371D-94F1-2B3E51DE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6C1074-EFE0-1E18-EFE4-49269E94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8B38984-3B52-FD1C-B045-AC1E9D3C8FCA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1D7678A8-24E7-9989-16BD-121A21134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3567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72FB2-11BC-55A7-B835-58FA6B4DC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551AC-155A-606E-F9D7-B00AA83DA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CAFC6D7-6BDC-FD75-74A1-F20339DD8FD8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1F347E5-CD88-44DA-EFAE-5E55A9803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80718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E5E99-579A-9B77-B363-5C16F04F4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0D248-A3BA-F107-43CA-C33CA004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537344-929A-DB0D-A106-C9541F1B7AA7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CB64DE4-646A-9EE2-649C-34B8E0325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58834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0ADF-8B87-4E10-428F-89AE29AC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098DA-4046-12FD-6A7F-187083FB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D0046A-52DD-21E6-011C-0BEEBEE7FBCB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498D943-5149-308D-5A94-8F6C55744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6312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9B70-F07F-CF66-420B-309D1BCE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F2645-8AE2-5184-1FD0-3E922B41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DCED9D-4B96-3DD3-00AB-864007D03A39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54D0796F-44AB-980A-30B9-5A6A8B06C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24839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B406-FB44-4BD4-0F24-3369A573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43845-4499-1D6F-D78F-E66442859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583A58-38F6-EC24-A821-2112A68C7A5D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091B64D-2455-3143-F5AE-9D7B99064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13022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3937-F618-F4FF-CA07-DB188960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FC65C-98BB-F1D2-F5CE-5425EE38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1ABCB5-668A-C3A2-5C3A-317CEDF34042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90E24BB-3658-57A2-DB00-A1C713A52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4872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EB942-546F-7B06-D496-88747EF05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DACB6-E51F-4763-C471-FC6432C5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E83D8B-BD44-51E0-2E3E-1DABF2901AEB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680FD90-73E3-3745-8CCD-78C33A60B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8162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DC5ED-C333-E8C3-8BF7-8382328B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7DB9E-DDA3-80C1-C8DD-D35E9C64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258867-E72B-2EAB-8BCE-2D000B1F9316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58176-3D41-1E5C-082C-43F5B70A0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78318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18E63-0DB6-D80E-D5A5-200F1181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68C6B-FF58-17ED-3C3B-0ACF41BB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C4EA51-1AC6-D5C1-3565-32766E50F85B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E26D5CB-73ED-7661-CCC3-B657D3EF2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62970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C83E5-1F61-0DB9-B4C4-60BF4951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1A514-E8BF-8CF3-7345-A3258553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CDCB81-3936-13F4-6953-75FA9B0E3018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6FC4C6-3CBE-9E71-81B8-A375D7A60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3174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F2FE4-1736-0FC2-BA52-57DC84E7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97909-CA45-6132-4489-6A251FC4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9887A03-4416-A90E-A338-570AB86F2576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8501529-451B-14CC-DFEB-391358ACB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7203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D956A-B56A-7856-7374-48847386D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5AC32-9DF3-63F4-9455-C461221E1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454CBC6-866B-3F43-4D1B-A63CF5854690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6BA1820-FD32-C431-981F-10D4BE5A6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390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3B4D-3A04-98C3-362A-519A683F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34789-B9BD-35C6-D805-27EE77DCD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011ECF-D252-C82B-EEA9-1019C3DF1233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123966E-C56A-181C-A924-684D9F907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48364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B80C0-EB66-0663-DAAA-9C84C57B4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4AC2A-AF48-EC2A-2DD2-3A60E1AA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476BAC-5628-2A33-C95C-69530B8F7254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9C9F5AD-278F-8AF4-299D-6E40EDF06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706166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395C1-086D-8C13-6C91-F0529161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0F562-1F0A-3DC2-7329-06190CF4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8C0C807-E95E-6697-61A1-D8142DB30E15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67C242E-D395-181E-A789-0ADDA60AC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06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A66C-C5C6-5F47-3909-F7CA60F09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E54E7-6DC7-098E-BD12-32866C74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7A480E-8280-D5E0-0F79-4C22DDEF5D3B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DD66DBF-9B7E-6CE4-FC4D-ACFF8CA6F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0662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4C307-5C9D-1DFF-E8F5-23C736BA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F1F75-69DC-6E47-8ABD-D6A1F4EF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2FB8C2-3EF1-8363-2551-70EAC1CF4036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1629922-8DBA-20E6-C6C5-8BAACCE30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40976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C0F8-F853-10F7-A2FC-4D331DB45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0DD96-80F3-817B-C019-CB830A5F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C91640-C70A-B018-7371-2482D5F09855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EA3DB90E-80E1-7E65-FE48-7E86B3C09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88559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2F5D-EE16-6F16-F512-562FAB70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438AC-23D3-3BCC-3554-91F7218AF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72AAAC-4164-E207-E036-3BBA1C884390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93F0F75-C834-619B-141C-3B4CD5E4B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926057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46AE-4642-C14A-E279-C59C1A76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33DB8-64DB-BF58-C8B4-14D04D8A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E3EC400-E0EC-2ADD-F3FE-F642893446C2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5A8279A-4F45-B1B0-6BFD-60EB58BD5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392469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40ABA-DB83-F224-76C4-EB7325D16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9A182-F157-20DE-CD19-21D6DE4FB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C1AE46-61E8-111F-1797-BB534BEA3974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1EA35AB-8C98-1E4C-CB08-7D50CFCD8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589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BC01A-A51E-181B-D211-9B66BCDB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6BAA0F-73B4-DB34-C642-D12D6982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BFC59D4-7AB7-1912-0146-12ABBFD66FD0}"/>
              </a:ext>
            </a:extLst>
          </p:cNvPr>
          <p:cNvSpPr txBox="1"/>
          <p:nvPr/>
        </p:nvSpPr>
        <p:spPr>
          <a:xfrm>
            <a:off x="8964386" y="1253331"/>
            <a:ext cx="2806700" cy="6531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267A105-DC4C-E720-972A-508857E15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2798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2979</Words>
  <Application>Microsoft Office PowerPoint</Application>
  <PresentationFormat>Widescreen</PresentationFormat>
  <Paragraphs>185</Paragraphs>
  <Slides>107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107</vt:i4>
      </vt:variant>
    </vt:vector>
  </HeadingPairs>
  <TitlesOfParts>
    <vt:vector size="111" baseType="lpstr">
      <vt:lpstr>Aptos</vt:lpstr>
      <vt:lpstr>Aptos Display</vt:lpstr>
      <vt:lpstr>Arial</vt:lpstr>
      <vt:lpstr>Tema do Office</vt:lpstr>
      <vt:lpstr>App Delivery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 TRIGO DE OLIVEIRA</dc:creator>
  <cp:lastModifiedBy>Fabio Claret</cp:lastModifiedBy>
  <cp:revision>7</cp:revision>
  <dcterms:created xsi:type="dcterms:W3CDTF">2026-01-23T12:06:16Z</dcterms:created>
  <dcterms:modified xsi:type="dcterms:W3CDTF">2026-04-14T16:29:25Z</dcterms:modified>
</cp:coreProperties>
</file>